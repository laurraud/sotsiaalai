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ef0ce1cb54d3b" /><Relationship Type="http://schemas.openxmlformats.org/officeDocument/2006/relationships/extended-properties" Target="/docProps/app.xml" Id="R18299fe1f6be41d8" /><Relationship Type="http://schemas.openxmlformats.org/officeDocument/2006/relationships/officeDocument" Target="/ppt/presentation.xml" Id="R6ab950aed72e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93c1523b54317"/>
  </p:sldMasterIdLst>
  <p:notesMasterIdLst>
    <p:notesMasterId xmlns:r="http://schemas.openxmlformats.org/officeDocument/2006/relationships" r:id="R6255d17dd45140f0"/>
  </p:notesMasterIdLst>
  <p:sldIdLst>
    <p:sldId xmlns:r="http://schemas.openxmlformats.org/officeDocument/2006/relationships" id="256" r:id="R4c19276ba470497e"/>
    <p:sldId xmlns:r="http://schemas.openxmlformats.org/officeDocument/2006/relationships" id="257" r:id="Rdc9b5f5ed7b44d11"/>
    <p:sldId xmlns:r="http://schemas.openxmlformats.org/officeDocument/2006/relationships" id="258" r:id="R8c8eecd0527c46b5"/>
    <p:sldId xmlns:r="http://schemas.openxmlformats.org/officeDocument/2006/relationships" id="259" r:id="Rfee2043e39e548bc"/>
    <p:sldId xmlns:r="http://schemas.openxmlformats.org/officeDocument/2006/relationships" id="260" r:id="Rb158bf31cc9a4578"/>
    <p:sldId xmlns:r="http://schemas.openxmlformats.org/officeDocument/2006/relationships" id="261" r:id="R8e005060b71a4cfd"/>
    <p:sldId xmlns:r="http://schemas.openxmlformats.org/officeDocument/2006/relationships" id="262" r:id="Rec48270cc43d402f"/>
    <p:sldId xmlns:r="http://schemas.openxmlformats.org/officeDocument/2006/relationships" id="263" r:id="R024dc3cbc7334e1e"/>
    <p:sldId xmlns:r="http://schemas.openxmlformats.org/officeDocument/2006/relationships" id="264" r:id="R31116d0c6b0c4253"/>
    <p:sldId xmlns:r="http://schemas.openxmlformats.org/officeDocument/2006/relationships" id="265" r:id="R6f4cda86bf074f30"/>
    <p:sldId xmlns:r="http://schemas.openxmlformats.org/officeDocument/2006/relationships" id="266" r:id="Rb8602339f79c40f5"/>
    <p:sldId xmlns:r="http://schemas.openxmlformats.org/officeDocument/2006/relationships" id="267" r:id="R2a09c5d796494a4d"/>
    <p:sldId xmlns:r="http://schemas.openxmlformats.org/officeDocument/2006/relationships" id="268" r:id="Ra341154697434f29"/>
    <p:sldId xmlns:r="http://schemas.openxmlformats.org/officeDocument/2006/relationships" id="269" r:id="Rc86df2ea0ec742d0"/>
    <p:sldId xmlns:r="http://schemas.openxmlformats.org/officeDocument/2006/relationships" id="270" r:id="Rb7df961eb6a347f5"/>
    <p:sldId xmlns:r="http://schemas.openxmlformats.org/officeDocument/2006/relationships" id="271" r:id="R92e46b55d1374cbb"/>
    <p:sldId xmlns:r="http://schemas.openxmlformats.org/officeDocument/2006/relationships" id="272" r:id="Rf956fcb146dd4f4f"/>
    <p:sldId xmlns:r="http://schemas.openxmlformats.org/officeDocument/2006/relationships" id="273" r:id="R080d608de6f24102"/>
    <p:sldId xmlns:r="http://schemas.openxmlformats.org/officeDocument/2006/relationships" id="274" r:id="R52df121fcaf64c52"/>
    <p:sldId xmlns:r="http://schemas.openxmlformats.org/officeDocument/2006/relationships" id="275" r:id="R4f1a66e28b894963"/>
    <p:sldId xmlns:r="http://schemas.openxmlformats.org/officeDocument/2006/relationships" id="276" r:id="R9e3bddaea029419d"/>
    <p:sldId xmlns:r="http://schemas.openxmlformats.org/officeDocument/2006/relationships" id="277" r:id="Re03e03260f264923"/>
    <p:sldId xmlns:r="http://schemas.openxmlformats.org/officeDocument/2006/relationships" id="278" r:id="Rb6ef552c9f7641cf"/>
    <p:sldId xmlns:r="http://schemas.openxmlformats.org/officeDocument/2006/relationships" id="279" r:id="R16f7bf8ccff24ccb"/>
    <p:sldId xmlns:r="http://schemas.openxmlformats.org/officeDocument/2006/relationships" id="280" r:id="R8bc7cd407aed483d"/>
    <p:sldId xmlns:r="http://schemas.openxmlformats.org/officeDocument/2006/relationships" id="281" r:id="R62d7d4592e1d4fc8"/>
    <p:sldId xmlns:r="http://schemas.openxmlformats.org/officeDocument/2006/relationships" id="282" r:id="R07fd8c5776be4e49"/>
    <p:sldId xmlns:r="http://schemas.openxmlformats.org/officeDocument/2006/relationships" id="283" r:id="R9c0e005b5b78451b"/>
    <p:sldId xmlns:r="http://schemas.openxmlformats.org/officeDocument/2006/relationships" id="284" r:id="R02169ca7537b4bec"/>
    <p:sldId xmlns:r="http://schemas.openxmlformats.org/officeDocument/2006/relationships" id="285" r:id="R644db07a40da4e75"/>
    <p:sldId xmlns:r="http://schemas.openxmlformats.org/officeDocument/2006/relationships" id="286" r:id="R769c7c25ff4c4e29"/>
    <p:sldId xmlns:r="http://schemas.openxmlformats.org/officeDocument/2006/relationships" id="287" r:id="R1eaa1842554c4dbc"/>
    <p:sldId xmlns:r="http://schemas.openxmlformats.org/officeDocument/2006/relationships" id="288" r:id="Rb62aa24f037548eb"/>
    <p:sldId xmlns:r="http://schemas.openxmlformats.org/officeDocument/2006/relationships" id="289" r:id="R3b59149792cb4de2"/>
    <p:sldId xmlns:r="http://schemas.openxmlformats.org/officeDocument/2006/relationships" id="290" r:id="Rca968bc36ed04976"/>
    <p:sldId xmlns:r="http://schemas.openxmlformats.org/officeDocument/2006/relationships" id="291" r:id="Red60d7a390904fe6"/>
    <p:sldId xmlns:r="http://schemas.openxmlformats.org/officeDocument/2006/relationships" id="292" r:id="R20bf9e37285d4c3e"/>
    <p:sldId xmlns:r="http://schemas.openxmlformats.org/officeDocument/2006/relationships" id="293" r:id="R38919a3e5f1e4088"/>
    <p:sldId xmlns:r="http://schemas.openxmlformats.org/officeDocument/2006/relationships" id="294" r:id="R9e9f17875bed4b63"/>
    <p:sldId xmlns:r="http://schemas.openxmlformats.org/officeDocument/2006/relationships" id="295" r:id="R06da77e76de84b6f"/>
    <p:sldId xmlns:r="http://schemas.openxmlformats.org/officeDocument/2006/relationships" id="296" r:id="R71af04480b8146f2"/>
    <p:sldId xmlns:r="http://schemas.openxmlformats.org/officeDocument/2006/relationships" id="297" r:id="Rf2620c076e264fae"/>
    <p:sldId xmlns:r="http://schemas.openxmlformats.org/officeDocument/2006/relationships" id="298" r:id="R238f0b67166a4b75"/>
    <p:sldId xmlns:r="http://schemas.openxmlformats.org/officeDocument/2006/relationships" id="299" r:id="Raaf48d56bcf84f43"/>
    <p:sldId xmlns:r="http://schemas.openxmlformats.org/officeDocument/2006/relationships" id="300" r:id="Ra954d3b1f0284151"/>
    <p:sldId xmlns:r="http://schemas.openxmlformats.org/officeDocument/2006/relationships" id="301" r:id="R78f2223cf4334e86"/>
    <p:sldId xmlns:r="http://schemas.openxmlformats.org/officeDocument/2006/relationships" id="302" r:id="R949543cb0da84ebf"/>
    <p:sldId xmlns:r="http://schemas.openxmlformats.org/officeDocument/2006/relationships" id="303" r:id="R9b174a501a964f9d"/>
    <p:sldId xmlns:r="http://schemas.openxmlformats.org/officeDocument/2006/relationships" id="304" r:id="R60a299ebc819406c"/>
    <p:sldId xmlns:r="http://schemas.openxmlformats.org/officeDocument/2006/relationships" id="305" r:id="R2a29dc4843254b8c"/>
    <p:sldId xmlns:r="http://schemas.openxmlformats.org/officeDocument/2006/relationships" id="306" r:id="R4bd5bd66f8664808"/>
    <p:sldId xmlns:r="http://schemas.openxmlformats.org/officeDocument/2006/relationships" id="307" r:id="R0b5a97321f064c19"/>
    <p:sldId xmlns:r="http://schemas.openxmlformats.org/officeDocument/2006/relationships" id="308" r:id="R633c113256c848b4"/>
    <p:sldId xmlns:r="http://schemas.openxmlformats.org/officeDocument/2006/relationships" id="309" r:id="Rc727c24378614e7b"/>
    <p:sldId xmlns:r="http://schemas.openxmlformats.org/officeDocument/2006/relationships" id="310" r:id="R4a68608e1fdf426a"/>
    <p:sldId xmlns:r="http://schemas.openxmlformats.org/officeDocument/2006/relationships" id="311" r:id="Ra4f2b111b9494977"/>
    <p:sldId xmlns:r="http://schemas.openxmlformats.org/officeDocument/2006/relationships" id="312" r:id="R9be2a5d00d144153"/>
    <p:sldId xmlns:r="http://schemas.openxmlformats.org/officeDocument/2006/relationships" id="313" r:id="R6412ab3b29244d1b"/>
    <p:sldId xmlns:r="http://schemas.openxmlformats.org/officeDocument/2006/relationships" id="314" r:id="Rcb43a2bdf3b84214"/>
    <p:sldId xmlns:r="http://schemas.openxmlformats.org/officeDocument/2006/relationships" id="315" r:id="R8761a8e5d996436a"/>
    <p:sldId xmlns:r="http://schemas.openxmlformats.org/officeDocument/2006/relationships" id="316" r:id="R541fa21ed8a448ab"/>
    <p:sldId xmlns:r="http://schemas.openxmlformats.org/officeDocument/2006/relationships" id="317" r:id="Raa3b687b61384a3a"/>
    <p:sldId xmlns:r="http://schemas.openxmlformats.org/officeDocument/2006/relationships" id="318" r:id="R105c064176914b80"/>
    <p:sldId xmlns:r="http://schemas.openxmlformats.org/officeDocument/2006/relationships" id="319" r:id="R558b4b5b212944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0622e73fb44f5" /><Relationship Type="http://schemas.openxmlformats.org/officeDocument/2006/relationships/slideMaster" Target="/ppt/slideMasters/slideMaster1.xml" Id="R2e593c1523b54317" /><Relationship Type="http://schemas.openxmlformats.org/officeDocument/2006/relationships/notesMaster" Target="/ppt/notesMasters/notesMaster1.xml" Id="R6255d17dd45140f0" /><Relationship Type="http://schemas.openxmlformats.org/officeDocument/2006/relationships/presProps" Target="/ppt/presProps.xml" Id="Rc179f158b1da4f93" /><Relationship Type="http://schemas.openxmlformats.org/officeDocument/2006/relationships/tableStyles" Target="/ppt/tableStyles.xml" Id="Rfb22a4db71394bbe" /><Relationship Type="http://schemas.openxmlformats.org/officeDocument/2006/relationships/slide" Target="/ppt/slides/slide1.xml" Id="R4c19276ba470497e" /><Relationship Type="http://schemas.openxmlformats.org/officeDocument/2006/relationships/slide" Target="/ppt/slides/slide2.xml" Id="Rdc9b5f5ed7b44d11" /><Relationship Type="http://schemas.openxmlformats.org/officeDocument/2006/relationships/slide" Target="/ppt/slides/slide3.xml" Id="R8c8eecd0527c46b5" /><Relationship Type="http://schemas.openxmlformats.org/officeDocument/2006/relationships/slide" Target="/ppt/slides/slide4.xml" Id="Rfee2043e39e548bc" /><Relationship Type="http://schemas.openxmlformats.org/officeDocument/2006/relationships/slide" Target="/ppt/slides/slide5.xml" Id="Rb158bf31cc9a4578" /><Relationship Type="http://schemas.openxmlformats.org/officeDocument/2006/relationships/slide" Target="/ppt/slides/slide6.xml" Id="R8e005060b71a4cfd" /><Relationship Type="http://schemas.openxmlformats.org/officeDocument/2006/relationships/slide" Target="/ppt/slides/slide7.xml" Id="Rec48270cc43d402f" /><Relationship Type="http://schemas.openxmlformats.org/officeDocument/2006/relationships/slide" Target="/ppt/slides/slide8.xml" Id="R024dc3cbc7334e1e" /><Relationship Type="http://schemas.openxmlformats.org/officeDocument/2006/relationships/slide" Target="/ppt/slides/slide9.xml" Id="R31116d0c6b0c4253" /><Relationship Type="http://schemas.openxmlformats.org/officeDocument/2006/relationships/slide" Target="/ppt/slides/slide10.xml" Id="R6f4cda86bf074f30" /><Relationship Type="http://schemas.openxmlformats.org/officeDocument/2006/relationships/slide" Target="/ppt/slides/slide11.xml" Id="Rb8602339f79c40f5" /><Relationship Type="http://schemas.openxmlformats.org/officeDocument/2006/relationships/slide" Target="/ppt/slides/slide12.xml" Id="R2a09c5d796494a4d" /><Relationship Type="http://schemas.openxmlformats.org/officeDocument/2006/relationships/slide" Target="/ppt/slides/slide13.xml" Id="Ra341154697434f29" /><Relationship Type="http://schemas.openxmlformats.org/officeDocument/2006/relationships/slide" Target="/ppt/slides/slide14.xml" Id="Rc86df2ea0ec742d0" /><Relationship Type="http://schemas.openxmlformats.org/officeDocument/2006/relationships/slide" Target="/ppt/slides/slide15.xml" Id="Rb7df961eb6a347f5" /><Relationship Type="http://schemas.openxmlformats.org/officeDocument/2006/relationships/slide" Target="/ppt/slides/slide16.xml" Id="R92e46b55d1374cbb" /><Relationship Type="http://schemas.openxmlformats.org/officeDocument/2006/relationships/slide" Target="/ppt/slides/slide17.xml" Id="Rf956fcb146dd4f4f" /><Relationship Type="http://schemas.openxmlformats.org/officeDocument/2006/relationships/slide" Target="/ppt/slides/slide18.xml" Id="R080d608de6f24102" /><Relationship Type="http://schemas.openxmlformats.org/officeDocument/2006/relationships/slide" Target="/ppt/slides/slide19.xml" Id="R52df121fcaf64c52" /><Relationship Type="http://schemas.openxmlformats.org/officeDocument/2006/relationships/slide" Target="/ppt/slides/slide20.xml" Id="R4f1a66e28b894963" /><Relationship Type="http://schemas.openxmlformats.org/officeDocument/2006/relationships/slide" Target="/ppt/slides/slide21.xml" Id="R9e3bddaea029419d" /><Relationship Type="http://schemas.openxmlformats.org/officeDocument/2006/relationships/slide" Target="/ppt/slides/slide22.xml" Id="Re03e03260f264923" /><Relationship Type="http://schemas.openxmlformats.org/officeDocument/2006/relationships/slide" Target="/ppt/slides/slide23.xml" Id="Rb6ef552c9f7641cf" /><Relationship Type="http://schemas.openxmlformats.org/officeDocument/2006/relationships/slide" Target="/ppt/slides/slide24.xml" Id="R16f7bf8ccff24ccb" /><Relationship Type="http://schemas.openxmlformats.org/officeDocument/2006/relationships/slide" Target="/ppt/slides/slide25.xml" Id="R8bc7cd407aed483d" /><Relationship Type="http://schemas.openxmlformats.org/officeDocument/2006/relationships/slide" Target="/ppt/slides/slide26.xml" Id="R62d7d4592e1d4fc8" /><Relationship Type="http://schemas.openxmlformats.org/officeDocument/2006/relationships/slide" Target="/ppt/slides/slide27.xml" Id="R07fd8c5776be4e49" /><Relationship Type="http://schemas.openxmlformats.org/officeDocument/2006/relationships/slide" Target="/ppt/slides/slide28.xml" Id="R9c0e005b5b78451b" /><Relationship Type="http://schemas.openxmlformats.org/officeDocument/2006/relationships/slide" Target="/ppt/slides/slide29.xml" Id="R02169ca7537b4bec" /><Relationship Type="http://schemas.openxmlformats.org/officeDocument/2006/relationships/slide" Target="/ppt/slides/slide30.xml" Id="R644db07a40da4e75" /><Relationship Type="http://schemas.openxmlformats.org/officeDocument/2006/relationships/slide" Target="/ppt/slides/slide31.xml" Id="R769c7c25ff4c4e29" /><Relationship Type="http://schemas.openxmlformats.org/officeDocument/2006/relationships/slide" Target="/ppt/slides/slide32.xml" Id="R1eaa1842554c4dbc" /><Relationship Type="http://schemas.openxmlformats.org/officeDocument/2006/relationships/slide" Target="/ppt/slides/slide33.xml" Id="Rb62aa24f037548eb" /><Relationship Type="http://schemas.openxmlformats.org/officeDocument/2006/relationships/slide" Target="/ppt/slides/slide34.xml" Id="R3b59149792cb4de2" /><Relationship Type="http://schemas.openxmlformats.org/officeDocument/2006/relationships/slide" Target="/ppt/slides/slide35.xml" Id="Rca968bc36ed04976" /><Relationship Type="http://schemas.openxmlformats.org/officeDocument/2006/relationships/slide" Target="/ppt/slides/slide36.xml" Id="Red60d7a390904fe6" /><Relationship Type="http://schemas.openxmlformats.org/officeDocument/2006/relationships/slide" Target="/ppt/slides/slide37.xml" Id="R20bf9e37285d4c3e" /><Relationship Type="http://schemas.openxmlformats.org/officeDocument/2006/relationships/slide" Target="/ppt/slides/slide38.xml" Id="R38919a3e5f1e4088" /><Relationship Type="http://schemas.openxmlformats.org/officeDocument/2006/relationships/slide" Target="/ppt/slides/slide39.xml" Id="R9e9f17875bed4b63" /><Relationship Type="http://schemas.openxmlformats.org/officeDocument/2006/relationships/slide" Target="/ppt/slides/slide40.xml" Id="R06da77e76de84b6f" /><Relationship Type="http://schemas.openxmlformats.org/officeDocument/2006/relationships/slide" Target="/ppt/slides/slide41.xml" Id="R71af04480b8146f2" /><Relationship Type="http://schemas.openxmlformats.org/officeDocument/2006/relationships/slide" Target="/ppt/slides/slide42.xml" Id="Rf2620c076e264fae" /><Relationship Type="http://schemas.openxmlformats.org/officeDocument/2006/relationships/slide" Target="/ppt/slides/slide43.xml" Id="R238f0b67166a4b75" /><Relationship Type="http://schemas.openxmlformats.org/officeDocument/2006/relationships/slide" Target="/ppt/slides/slide44.xml" Id="Raaf48d56bcf84f43" /><Relationship Type="http://schemas.openxmlformats.org/officeDocument/2006/relationships/slide" Target="/ppt/slides/slide45.xml" Id="Ra954d3b1f0284151" /><Relationship Type="http://schemas.openxmlformats.org/officeDocument/2006/relationships/slide" Target="/ppt/slides/slide46.xml" Id="R78f2223cf4334e86" /><Relationship Type="http://schemas.openxmlformats.org/officeDocument/2006/relationships/slide" Target="/ppt/slides/slide47.xml" Id="R949543cb0da84ebf" /><Relationship Type="http://schemas.openxmlformats.org/officeDocument/2006/relationships/slide" Target="/ppt/slides/slide48.xml" Id="R9b174a501a964f9d" /><Relationship Type="http://schemas.openxmlformats.org/officeDocument/2006/relationships/slide" Target="/ppt/slides/slide49.xml" Id="R60a299ebc819406c" /><Relationship Type="http://schemas.openxmlformats.org/officeDocument/2006/relationships/slide" Target="/ppt/slides/slide50.xml" Id="R2a29dc4843254b8c" /><Relationship Type="http://schemas.openxmlformats.org/officeDocument/2006/relationships/slide" Target="/ppt/slides/slide51.xml" Id="R4bd5bd66f8664808" /><Relationship Type="http://schemas.openxmlformats.org/officeDocument/2006/relationships/slide" Target="/ppt/slides/slide52.xml" Id="R0b5a97321f064c19" /><Relationship Type="http://schemas.openxmlformats.org/officeDocument/2006/relationships/slide" Target="/ppt/slides/slide53.xml" Id="R633c113256c848b4" /><Relationship Type="http://schemas.openxmlformats.org/officeDocument/2006/relationships/slide" Target="/ppt/slides/slide54.xml" Id="Rc727c24378614e7b" /><Relationship Type="http://schemas.openxmlformats.org/officeDocument/2006/relationships/slide" Target="/ppt/slides/slide55.xml" Id="R4a68608e1fdf426a" /><Relationship Type="http://schemas.openxmlformats.org/officeDocument/2006/relationships/slide" Target="/ppt/slides/slide56.xml" Id="Ra4f2b111b9494977" /><Relationship Type="http://schemas.openxmlformats.org/officeDocument/2006/relationships/slide" Target="/ppt/slides/slide57.xml" Id="R9be2a5d00d144153" /><Relationship Type="http://schemas.openxmlformats.org/officeDocument/2006/relationships/slide" Target="/ppt/slides/slide58.xml" Id="R6412ab3b29244d1b" /><Relationship Type="http://schemas.openxmlformats.org/officeDocument/2006/relationships/slide" Target="/ppt/slides/slide59.xml" Id="Rcb43a2bdf3b84214" /><Relationship Type="http://schemas.openxmlformats.org/officeDocument/2006/relationships/slide" Target="/ppt/slides/slide60.xml" Id="R8761a8e5d996436a" /><Relationship Type="http://schemas.openxmlformats.org/officeDocument/2006/relationships/slide" Target="/ppt/slides/slide61.xml" Id="R541fa21ed8a448ab" /><Relationship Type="http://schemas.openxmlformats.org/officeDocument/2006/relationships/slide" Target="/ppt/slides/slide62.xml" Id="Raa3b687b61384a3a" /><Relationship Type="http://schemas.openxmlformats.org/officeDocument/2006/relationships/slide" Target="/ppt/slides/slide63.xml" Id="R105c064176914b80" /><Relationship Type="http://schemas.openxmlformats.org/officeDocument/2006/relationships/slide" Target="/ppt/slides/slide64.xml" Id="R558b4b5b2129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9889cf63b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6468a12f1948be" /><Relationship Type="http://schemas.openxmlformats.org/officeDocument/2006/relationships/notesMaster" Target="/ppt/notesMasters/notesMaster1.xml" Id="Ref1853c6d0a549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647e403234703" /><Relationship Type="http://schemas.openxmlformats.org/officeDocument/2006/relationships/notesMaster" Target="/ppt/notesMasters/notesMaster1.xml" Id="R1e632209763d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8a163eb2d5477e" /><Relationship Type="http://schemas.openxmlformats.org/officeDocument/2006/relationships/notesMaster" Target="/ppt/notesMasters/notesMaster1.xml" Id="Rdf66c1a055ad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7558109da4d1e" /><Relationship Type="http://schemas.openxmlformats.org/officeDocument/2006/relationships/notesMaster" Target="/ppt/notesMasters/notesMaster1.xml" Id="R32fca8b6bbe445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061e0566724d6d" /><Relationship Type="http://schemas.openxmlformats.org/officeDocument/2006/relationships/notesMaster" Target="/ppt/notesMasters/notesMaster1.xml" Id="R162c6caa7b5442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e909088154d6f" /><Relationship Type="http://schemas.openxmlformats.org/officeDocument/2006/relationships/notesMaster" Target="/ppt/notesMasters/notesMaster1.xml" Id="Rfaad91da296c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759c1e04b14736" /><Relationship Type="http://schemas.openxmlformats.org/officeDocument/2006/relationships/notesMaster" Target="/ppt/notesMasters/notesMaster1.xml" Id="Rb202668bd154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d78a10f2a4c60" /><Relationship Type="http://schemas.openxmlformats.org/officeDocument/2006/relationships/notesMaster" Target="/ppt/notesMasters/notesMaster1.xml" Id="R3ff518f7b3eb4f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d9e011a7dd4e86" /><Relationship Type="http://schemas.openxmlformats.org/officeDocument/2006/relationships/notesMaster" Target="/ppt/notesMasters/notesMaster1.xml" Id="Rfc060b342cdd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a90f57efd4d5e" /><Relationship Type="http://schemas.openxmlformats.org/officeDocument/2006/relationships/notesMaster" Target="/ppt/notesMasters/notesMaster1.xml" Id="R2d810aafe5024f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fa2e9e3c845cf" /><Relationship Type="http://schemas.openxmlformats.org/officeDocument/2006/relationships/notesMaster" Target="/ppt/notesMasters/notesMaster1.xml" Id="R9a7d29a5566a47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743e78dd4d498d" /><Relationship Type="http://schemas.openxmlformats.org/officeDocument/2006/relationships/notesMaster" Target="/ppt/notesMasters/notesMaster1.xml" Id="R6bd5d596926546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e1f5628cd240ec" /><Relationship Type="http://schemas.openxmlformats.org/officeDocument/2006/relationships/notesMaster" Target="/ppt/notesMasters/notesMaster1.xml" Id="R093f04b07ef84e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066b975b2e4c5e" /><Relationship Type="http://schemas.openxmlformats.org/officeDocument/2006/relationships/notesMaster" Target="/ppt/notesMasters/notesMaster1.xml" Id="R1d74a6e18c1343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afd3d7624847a6" /><Relationship Type="http://schemas.openxmlformats.org/officeDocument/2006/relationships/notesMaster" Target="/ppt/notesMasters/notesMaster1.xml" Id="R03c6f0693a8140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5a25bccfd44249" /><Relationship Type="http://schemas.openxmlformats.org/officeDocument/2006/relationships/notesMaster" Target="/ppt/notesMasters/notesMaster1.xml" Id="Rc7a598c18ce341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39eed774c4446c" /><Relationship Type="http://schemas.openxmlformats.org/officeDocument/2006/relationships/notesMaster" Target="/ppt/notesMasters/notesMaster1.xml" Id="Rd7e96609486f4e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e3c13d542e476a" /><Relationship Type="http://schemas.openxmlformats.org/officeDocument/2006/relationships/notesMaster" Target="/ppt/notesMasters/notesMaster1.xml" Id="Rddc3a0afa14141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deaeed566041a7" /><Relationship Type="http://schemas.openxmlformats.org/officeDocument/2006/relationships/notesMaster" Target="/ppt/notesMasters/notesMaster1.xml" Id="R53ac368f810b45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8848fb7a2d408c" /><Relationship Type="http://schemas.openxmlformats.org/officeDocument/2006/relationships/notesMaster" Target="/ppt/notesMasters/notesMaster1.xml" Id="R8cc2186c174846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b65a0c2e12417d" /><Relationship Type="http://schemas.openxmlformats.org/officeDocument/2006/relationships/notesMaster" Target="/ppt/notesMasters/notesMaster1.xml" Id="Recf86ef810ad48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dfb59c0aba42ab" /><Relationship Type="http://schemas.openxmlformats.org/officeDocument/2006/relationships/notesMaster" Target="/ppt/notesMasters/notesMaster1.xml" Id="Rc162ec39182d42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3c790e123e420f" /><Relationship Type="http://schemas.openxmlformats.org/officeDocument/2006/relationships/notesMaster" Target="/ppt/notesMasters/notesMaster1.xml" Id="Rb5f1224e7dc745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260392c73147af" /><Relationship Type="http://schemas.openxmlformats.org/officeDocument/2006/relationships/notesMaster" Target="/ppt/notesMasters/notesMaster1.xml" Id="R93291f7e99734e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c6b6d30f194903" /><Relationship Type="http://schemas.openxmlformats.org/officeDocument/2006/relationships/notesMaster" Target="/ppt/notesMasters/notesMaster1.xml" Id="R16d8022a28de4f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9c91e4eeb44484" /><Relationship Type="http://schemas.openxmlformats.org/officeDocument/2006/relationships/notesMaster" Target="/ppt/notesMasters/notesMaster1.xml" Id="Re9429d77072346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afe68d4b114cc3" /><Relationship Type="http://schemas.openxmlformats.org/officeDocument/2006/relationships/notesMaster" Target="/ppt/notesMasters/notesMaster1.xml" Id="R2e2ab04cb33b444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61b446ca694e16" /><Relationship Type="http://schemas.openxmlformats.org/officeDocument/2006/relationships/notesMaster" Target="/ppt/notesMasters/notesMaster1.xml" Id="R3c05c8b093dc41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188888b6a54647" /><Relationship Type="http://schemas.openxmlformats.org/officeDocument/2006/relationships/notesMaster" Target="/ppt/notesMasters/notesMaster1.xml" Id="Rcbc28cb4565a4f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2912ec6252422a" /><Relationship Type="http://schemas.openxmlformats.org/officeDocument/2006/relationships/notesMaster" Target="/ppt/notesMasters/notesMaster1.xml" Id="R5d5afa7c9f2f487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091f496fca24460" /><Relationship Type="http://schemas.openxmlformats.org/officeDocument/2006/relationships/notesMaster" Target="/ppt/notesMasters/notesMaster1.xml" Id="Rf9bc946b15eb45c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e6e830f5354dd7" /><Relationship Type="http://schemas.openxmlformats.org/officeDocument/2006/relationships/notesMaster" Target="/ppt/notesMasters/notesMaster1.xml" Id="Reb273483e7f2447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a785f098404ee4" /><Relationship Type="http://schemas.openxmlformats.org/officeDocument/2006/relationships/notesMaster" Target="/ppt/notesMasters/notesMaster1.xml" Id="R76d93acd2101446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22a58948a5a4cd9" /><Relationship Type="http://schemas.openxmlformats.org/officeDocument/2006/relationships/notesMaster" Target="/ppt/notesMasters/notesMaster1.xml" Id="Rab6a93a1cc834c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0bcafc1a8545d1" /><Relationship Type="http://schemas.openxmlformats.org/officeDocument/2006/relationships/notesMaster" Target="/ppt/notesMasters/notesMaster1.xml" Id="Rfaa807c36a3248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3306b9f2bd4436" /><Relationship Type="http://schemas.openxmlformats.org/officeDocument/2006/relationships/notesMaster" Target="/ppt/notesMasters/notesMaster1.xml" Id="R2d1569168b1d443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04dcaed2694c29" /><Relationship Type="http://schemas.openxmlformats.org/officeDocument/2006/relationships/notesMaster" Target="/ppt/notesMasters/notesMaster1.xml" Id="R95386eadab72425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77d95dfba1464e" /><Relationship Type="http://schemas.openxmlformats.org/officeDocument/2006/relationships/notesMaster" Target="/ppt/notesMasters/notesMaster1.xml" Id="R5142a99965a043a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b86f8c481446cc" /><Relationship Type="http://schemas.openxmlformats.org/officeDocument/2006/relationships/notesMaster" Target="/ppt/notesMasters/notesMaster1.xml" Id="Rb0593bb4fd97405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647f44164414fd6" /><Relationship Type="http://schemas.openxmlformats.org/officeDocument/2006/relationships/notesMaster" Target="/ppt/notesMasters/notesMaster1.xml" Id="R5df4d38680d243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d3b1535e564c57" /><Relationship Type="http://schemas.openxmlformats.org/officeDocument/2006/relationships/notesMaster" Target="/ppt/notesMasters/notesMaster1.xml" Id="R164bc7978247444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be46db5aeaa47af" /><Relationship Type="http://schemas.openxmlformats.org/officeDocument/2006/relationships/notesMaster" Target="/ppt/notesMasters/notesMaster1.xml" Id="R56937a547ed24be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9b2b137cfcf4c71" /><Relationship Type="http://schemas.openxmlformats.org/officeDocument/2006/relationships/notesMaster" Target="/ppt/notesMasters/notesMaster1.xml" Id="R00da4a5edd934ae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906647bdf4a4337" /><Relationship Type="http://schemas.openxmlformats.org/officeDocument/2006/relationships/notesMaster" Target="/ppt/notesMasters/notesMaster1.xml" Id="R08bf65b6bf734ad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7ebeecfdca34104" /><Relationship Type="http://schemas.openxmlformats.org/officeDocument/2006/relationships/notesMaster" Target="/ppt/notesMasters/notesMaster1.xml" Id="R635e12cc273a49e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b97b095e65f4176" /><Relationship Type="http://schemas.openxmlformats.org/officeDocument/2006/relationships/notesMaster" Target="/ppt/notesMasters/notesMaster1.xml" Id="Ra88a37dbf2404bd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4c8a1ca81284692" /><Relationship Type="http://schemas.openxmlformats.org/officeDocument/2006/relationships/notesMaster" Target="/ppt/notesMasters/notesMaster1.xml" Id="R0b890a717b8a412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060e6f29b904cb2" /><Relationship Type="http://schemas.openxmlformats.org/officeDocument/2006/relationships/notesMaster" Target="/ppt/notesMasters/notesMaster1.xml" Id="R76a93358e7164a2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9dbea2a51984ce1" /><Relationship Type="http://schemas.openxmlformats.org/officeDocument/2006/relationships/notesMaster" Target="/ppt/notesMasters/notesMaster1.xml" Id="Red5d51256203416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2f601b14d384730" /><Relationship Type="http://schemas.openxmlformats.org/officeDocument/2006/relationships/notesMaster" Target="/ppt/notesMasters/notesMaster1.xml" Id="R3b22523e77bf46b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9d9e5cad0b14bc2" /><Relationship Type="http://schemas.openxmlformats.org/officeDocument/2006/relationships/notesMaster" Target="/ppt/notesMasters/notesMaster1.xml" Id="Rcf71dd82d6034a9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20a49414dee4cd6" /><Relationship Type="http://schemas.openxmlformats.org/officeDocument/2006/relationships/notesMaster" Target="/ppt/notesMasters/notesMaster1.xml" Id="R77e512d19d184d7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8eac44de4b24f71" /><Relationship Type="http://schemas.openxmlformats.org/officeDocument/2006/relationships/notesMaster" Target="/ppt/notesMasters/notesMaster1.xml" Id="Rd58d09d322bd482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a4e79f25c104d25" /><Relationship Type="http://schemas.openxmlformats.org/officeDocument/2006/relationships/notesMaster" Target="/ppt/notesMasters/notesMaster1.xml" Id="R0388c2b3c1cb4f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8c51a7abe8d4fd9" /><Relationship Type="http://schemas.openxmlformats.org/officeDocument/2006/relationships/notesMaster" Target="/ppt/notesMasters/notesMaster1.xml" Id="Rd554331e2a4543b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e2ac1833e9240dd" /><Relationship Type="http://schemas.openxmlformats.org/officeDocument/2006/relationships/notesMaster" Target="/ppt/notesMasters/notesMaster1.xml" Id="R172acebed548413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0317d03f1844dc5" /><Relationship Type="http://schemas.openxmlformats.org/officeDocument/2006/relationships/notesMaster" Target="/ppt/notesMasters/notesMaster1.xml" Id="R6b48a4f8fc07471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e6843d601b64898" /><Relationship Type="http://schemas.openxmlformats.org/officeDocument/2006/relationships/notesMaster" Target="/ppt/notesMasters/notesMaster1.xml" Id="Rc1a1e5f46a0d4b6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dbdbc68d0ac48c3" /><Relationship Type="http://schemas.openxmlformats.org/officeDocument/2006/relationships/notesMaster" Target="/ppt/notesMasters/notesMaster1.xml" Id="R2c7d704c9a984e0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0c5603e68f643f9" /><Relationship Type="http://schemas.openxmlformats.org/officeDocument/2006/relationships/notesMaster" Target="/ppt/notesMasters/notesMaster1.xml" Id="Re46fc0004d8a4cd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1747f06544a4724" /><Relationship Type="http://schemas.openxmlformats.org/officeDocument/2006/relationships/notesMaster" Target="/ppt/notesMasters/notesMaster1.xml" Id="Rf94dfa4bdd534dd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d0275216e354d81" /><Relationship Type="http://schemas.openxmlformats.org/officeDocument/2006/relationships/notesMaster" Target="/ppt/notesMasters/notesMaster1.xml" Id="Rf17bfcf789b14bf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241979c1a8d4be9" /><Relationship Type="http://schemas.openxmlformats.org/officeDocument/2006/relationships/notesMaster" Target="/ppt/notesMasters/notesMaster1.xml" Id="R8026b43fda544c8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c8fe4dc270a4e84" /><Relationship Type="http://schemas.openxmlformats.org/officeDocument/2006/relationships/notesMaster" Target="/ppt/notesMasters/notesMaster1.xml" Id="R04f6859001d2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S1. AI sotsiaaltöös: võimalused, piirid ja turvaline kasutamine</a:t>
            </a:r>
          </a:p>
          <a:p xmlns:a="http://schemas.openxmlformats.org/drawingml/2006/main">
            <a:r>
              <a:t>• Koolituse lõpuks ei pea osaleja teadma kõiki tööriistu. Ta peab oskama teha turvalise otsuse: kas, milleks, milliste andmetega ja millises tööriistas AI-d kasutada.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S2. Kes ma olen ja miks ütlen seda kohe</a:t>
            </a:r>
          </a:p>
          <a:p xmlns:a="http://schemas.openxmlformats.org/drawingml/2006/main">
            <a:r>
              <a:t>• Koolitaja taust sotsiaalvaldkonnas ning SotsiaalAI arendamisel.</a:t>
            </a:r>
          </a:p>
          <a:p xmlns:a="http://schemas.openxmlformats.org/drawingml/2006/main">
            <a:r>
              <a:t>• Seotus on praktilise kogemuse allikas, kuid loob ka võimaliku huvide konflikti.</a:t>
            </a:r>
          </a:p>
          <a:p xmlns:a="http://schemas.openxmlformats.org/drawingml/2006/main">
            <a:r>
              <a:t>• Koolitus on tööriista-agnostiline. SotsiaalAI-d ei demota ega pakuta varjatult.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S3. Turvaline õpperuum</a:t>
            </a:r>
          </a:p>
          <a:p xmlns:a="http://schemas.openxmlformats.org/drawingml/2006/main">
            <a:r>
              <a:t>• Me ei sisesta ega jutusta päris kliendijuhtumeid viisil, mille järgi inimene oleks äratuntav.</a:t>
            </a:r>
          </a:p>
          <a:p xmlns:a="http://schemas.openxmlformats.org/drawingml/2006/main">
            <a:r>
              <a:t>• Küsimust võib esitada üldistatult või anonüümselt.</a:t>
            </a:r>
          </a:p>
          <a:p xmlns:a="http://schemas.openxmlformats.org/drawingml/2006/main">
            <a:r>
              <a:t>• Koolitaja ei palu kellelgi avalikult tunnistada võimalikku varasemat rikkumist.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S4. Anonüümne avaküsitlus</a:t>
            </a:r>
          </a:p>
          <a:p xmlns:a="http://schemas.openxmlformats.org/drawingml/2006/main">
            <a:r>
              <a:t>• Olen AI-vestlusrobotit proovinud.</a:t>
            </a:r>
          </a:p>
          <a:p xmlns:a="http://schemas.openxmlformats.org/drawingml/2006/main">
            <a:r>
              <a:t>• Tean, milline AI-tööriist on minu asutuses heaks kiidetud.</a:t>
            </a:r>
          </a:p>
          <a:p xmlns:a="http://schemas.openxmlformats.org/drawingml/2006/main">
            <a:r>
              <a:t>• Oskan eristada anonüümset ja pseudonüümset juhtumikirjeldust.</a:t>
            </a:r>
          </a:p>
          <a:p xmlns:a="http://schemas.openxmlformats.org/drawingml/2006/main">
            <a:r>
              <a:t>• Tean, kuhu AI-ga seotud vea korral teatada.</a:t>
            </a:r>
          </a:p>
          <a:p xmlns:a="http://schemas.openxmlformats.org/drawingml/2006/main">
            <a:r>
              <a:t>• Lisaks lahendab rühm neli lühistsenaariumi, mida korratakse koolituse lõpus.</a:t>
            </a:r>
          </a:p>
          <a:p xmlns:a="http://schemas.openxmlformats.org/drawingml/2006/main">
            <a:r>
              <a:t>• Tulemusi võrreldakse ainult rühma tasandil; need ei ole hinnang üksikule osalejale.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S5. Neli küsimust enne esimest sisestust</a:t>
            </a:r>
          </a:p>
          <a:p xmlns:a="http://schemas.openxmlformats.org/drawingml/2006/main">
            <a:r>
              <a:t>• Kas AI-d on selle ülesande jaoks vaja?</a:t>
            </a:r>
          </a:p>
          <a:p xmlns:a="http://schemas.openxmlformats.org/drawingml/2006/main">
            <a:r>
              <a:t>• Millised andmed mul on?</a:t>
            </a:r>
          </a:p>
          <a:p xmlns:a="http://schemas.openxmlformats.org/drawingml/2006/main">
            <a:r>
              <a:t>• Millist tööriista ma kasutan?</a:t>
            </a:r>
          </a:p>
          <a:p xmlns:a="http://schemas.openxmlformats.org/drawingml/2006/main">
            <a:r>
              <a:t>• Kes kontrollib väljundit ja vastutab järgmise sammu eest?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S6. Keelemudel ühe lausega</a:t>
            </a:r>
          </a:p>
          <a:p xmlns:a="http://schemas.openxmlformats.org/drawingml/2006/main">
            <a:r>
              <a:t>• Keelemudel ennustab konteksti põhjal sobivat järgmist tekstiosa.</a:t>
            </a:r>
          </a:p>
          <a:p xmlns:a="http://schemas.openxmlformats.org/drawingml/2006/main">
            <a:r>
              <a:t>• Ta võib olla ühendatud otsingu, registri või muu tööriistaga, kuid seda ei tohi eeldada.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S7. Ladus ei tähenda tõene</a:t>
            </a:r>
          </a:p>
          <a:p xmlns:a="http://schemas.openxmlformats.org/drawingml/2006/main">
            <a:r>
              <a:t>• Keeleline veenvus ja faktiline õigsus on kaks eri omadust.</a:t>
            </a:r>
          </a:p>
          <a:p xmlns:a="http://schemas.openxmlformats.org/drawingml/2006/main">
            <a:r>
              <a:t>• AI võib anda õige vastuse valel põhjusel või vale vastuse suure enesekindlusega.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S8. Viga ei ole ainult väljamõeldud fakt</a:t>
            </a:r>
          </a:p>
          <a:p xmlns:a="http://schemas.openxmlformats.org/drawingml/2006/main">
            <a:r>
              <a:t>• Väljamõeldud viide.</a:t>
            </a:r>
          </a:p>
          <a:p xmlns:a="http://schemas.openxmlformats.org/drawingml/2006/main">
            <a:r>
              <a:t>• Olulise asja väljajätmine.</a:t>
            </a:r>
          </a:p>
          <a:p xmlns:a="http://schemas.openxmlformats.org/drawingml/2006/main">
            <a:r>
              <a:t>• Ebakindla väite muutmine kindlaks.</a:t>
            </a:r>
          </a:p>
          <a:p xmlns:a="http://schemas.openxmlformats.org/drawingml/2006/main">
            <a:r>
              <a:t>• Kliendi ja töötaja öeldu kokkusulatamine.</a:t>
            </a:r>
          </a:p>
          <a:p xmlns:a="http://schemas.openxmlformats.org/drawingml/2006/main">
            <a:r>
              <a:t>• Ühe tõlgenduse esitamine ainsa võimalusena.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S9. Demo: sama ülesanne, erinev väljund</a:t>
            </a:r>
          </a:p>
          <a:p xmlns:a="http://schemas.openxmlformats.org/drawingml/2006/main">
            <a:r>
              <a:t>• Kasuta sünteetilist või avalikku sisendit.</a:t>
            </a:r>
          </a:p>
          <a:p xmlns:a="http://schemas.openxmlformats.org/drawingml/2006/main">
            <a:r>
              <a:t>• Näita kahte vastust samale ülesandele.</a:t>
            </a:r>
          </a:p>
          <a:p xmlns:a="http://schemas.openxmlformats.org/drawingml/2006/main">
            <a:r>
              <a:t>• Küsimus saalile: kumb on parem ja mille põhjal seda otsustate?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S10. Demo: seaduseviide</a:t>
            </a:r>
          </a:p>
          <a:p xmlns:a="http://schemas.openxmlformats.org/drawingml/2006/main">
            <a:r>
              <a:t>• Palu mudelil nimetada õiguslik alus.</a:t>
            </a:r>
          </a:p>
          <a:p xmlns:a="http://schemas.openxmlformats.org/drawingml/2006/main">
            <a:r>
              <a:t>• Ava viide Riigi Teatajas või näita ette valmistatud ekraanivideot.</a:t>
            </a:r>
          </a:p>
          <a:p xmlns:a="http://schemas.openxmlformats.org/drawingml/2006/main">
            <a:r>
              <a:t>• Õppetund: mudeli viide on kontrollitav väide, mitte allikas.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S11. Koolituse põhireegel</a:t>
            </a:r>
          </a:p>
          <a:p xmlns:a="http://schemas.openxmlformats.org/drawingml/2006/main">
            <a:r>
              <a:t>• AI võib ette valmistada. Inimene peab mõistma, kontrollima ja vastutama.</a:t>
            </a:r>
          </a:p>
          <a:p xmlns:a="http://schemas.openxmlformats.org/drawingml/2006/main">
            <a:r>
              <a:t>• Täpsustus: ka ettevalmistus ei ole automaatselt lubatud. Kõigepealt hinnatakse ülesannet, andmeid ja tööriista.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S12. Neli eri reeglit</a:t>
            </a:r>
          </a:p>
          <a:p xmlns:a="http://schemas.openxmlformats.org/drawingml/2006/main">
            <a:r>
              <a:t>• Keelatud AI-praktika.</a:t>
            </a:r>
          </a:p>
          <a:p xmlns:a="http://schemas.openxmlformats.org/drawingml/2006/main">
            <a:r>
              <a:t>• Kõrge riskiga AI-süsteem.</a:t>
            </a:r>
          </a:p>
          <a:p xmlns:a="http://schemas.openxmlformats.org/drawingml/2006/main">
            <a:r>
              <a:t>• Muu reguleeritud kasutus, näiteks isikuandmete töötlemine.</a:t>
            </a:r>
          </a:p>
          <a:p xmlns:a="http://schemas.openxmlformats.org/drawingml/2006/main">
            <a:r>
              <a:t>• Asutuse või ameti enda rangem reegel.</a:t>
            </a:r>
          </a:p>
          <a:p xmlns:a="http://schemas.openxmlformats.org/drawingml/2006/main">
            <a:r>
              <a:t>• Neid ei tohi üheks „tohib/ei tohi” loendiks kokku suruda.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S13. Kõrge risk ei tähenda keelatud</a:t>
            </a:r>
          </a:p>
          <a:p xmlns:a="http://schemas.openxmlformats.org/drawingml/2006/main">
            <a:r>
              <a:t>• Kõrge riskiga süsteem võib olla lubatud, kui nõuded on täidetud.</a:t>
            </a:r>
          </a:p>
          <a:p xmlns:a="http://schemas.openxmlformats.org/drawingml/2006/main">
            <a:r>
              <a:t>• Keelatud praktikad on AI-määruses eraldi kategooria.</a:t>
            </a:r>
          </a:p>
          <a:p xmlns:a="http://schemas.openxmlformats.org/drawingml/2006/main">
            <a:r>
              <a:t>• Koolituse varasem sõnastus „kõrge risk = keelatud otsustamine” oleks vale.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S14. Miks sotsiaalvaldkond on AI-määruses nimetatud</a:t>
            </a:r>
          </a:p>
          <a:p xmlns:a="http://schemas.openxmlformats.org/drawingml/2006/main">
            <a:r>
              <a:t>• III lisa punkt 5(a): avaliku võimu süsteemid, millega hinnatakse inimese õigust olulistele avalikele toetustele või teenustele või neid määratakse, vähendatakse, lõpetatakse või nõutakse tagasi.</a:t>
            </a:r>
          </a:p>
          <a:p xmlns:a="http://schemas.openxmlformats.org/drawingml/2006/main">
            <a:r>
              <a:t>• Keskne on süsteemi ettenähtud kasutus ja mõju otsusele, mitte toote turundusnimi.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S15. Ettevalmistav ülesanne võib olla erand, aga mitte automaatselt</a:t>
            </a:r>
          </a:p>
          <a:p xmlns:a="http://schemas.openxmlformats.org/drawingml/2006/main">
            <a:r>
              <a:t>• Artikli 6 lõige 3: kitsas menetlusülesanne, varasema inimtöö parandamine või ettevalmistav ülesanne võib teatud tingimustel jääda kõrge riski klassist välja.</a:t>
            </a:r>
          </a:p>
          <a:p xmlns:a="http://schemas.openxmlformats.org/drawingml/2006/main">
            <a:r>
              <a:t>• Küsimus: kas väljund mõjutab otsuse tulemust sisuliselt?</a:t>
            </a:r>
          </a:p>
          <a:p xmlns:a="http://schemas.openxmlformats.org/drawingml/2006/main">
            <a:r>
              <a:t>• Inimeste profileerimisel see erand ei kehti.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S16. Inimene ahelas või kummitempel?</a:t>
            </a:r>
          </a:p>
          <a:p xmlns:a="http://schemas.openxmlformats.org/drawingml/2006/main">
            <a:r>
              <a:t>• Kas töötajal on pädevus ja algandmed väljundi kontrollimiseks?</a:t>
            </a:r>
          </a:p>
          <a:p xmlns:a="http://schemas.openxmlformats.org/drawingml/2006/main">
            <a:r>
              <a:t>• Kas tal on aega kontrollida?</a:t>
            </a:r>
          </a:p>
          <a:p xmlns:a="http://schemas.openxmlformats.org/drawingml/2006/main">
            <a:r>
              <a:t>• Kas ta saab AI soovituse tagasi lükata ilma negatiivse tagajärjeta?</a:t>
            </a:r>
          </a:p>
          <a:p xmlns:a="http://schemas.openxmlformats.org/drawingml/2006/main">
            <a:r>
              <a:t>• Kas ta suudab otsustada ka ilma süsteemita?</a:t>
            </a:r>
          </a:p>
          <a:p xmlns:a="http://schemas.openxmlformats.org/drawingml/2006/main">
            <a:r>
              <a:t>• Pelk „kinnita” nupp ei taga sisulist inimkontrolli.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S17. GDPR ei kadunud AI-määruse taha</a:t>
            </a:r>
          </a:p>
          <a:p xmlns:a="http://schemas.openxmlformats.org/drawingml/2006/main">
            <a:r>
              <a:t>• Eesmärk, õiguslik alus, minimaalsus, läbipaistvus, õigsus, säilitamine ja turvalisus.</a:t>
            </a:r>
          </a:p>
          <a:p xmlns:a="http://schemas.openxmlformats.org/drawingml/2006/main">
            <a:r>
              <a:t>• Eriliigilistele andmetele kehtivad täiendavad tingimused.</a:t>
            </a:r>
          </a:p>
          <a:p xmlns:a="http://schemas.openxmlformats.org/drawingml/2006/main">
            <a:r>
              <a:t>• AI kasutamine ei muuda nõusolekut automaatselt vajalikuks ega sobivaks.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S18. AI-määruse rakendusajoon</a:t>
            </a:r>
          </a:p>
          <a:p xmlns:a="http://schemas.openxmlformats.org/drawingml/2006/main">
            <a:r>
              <a:t>• 1.08.2024: AI-määrus jõustus.</a:t>
            </a:r>
          </a:p>
          <a:p xmlns:a="http://schemas.openxmlformats.org/drawingml/2006/main">
            <a:r>
              <a:t>• 2.02.2025: muu hulgas AI-kirjaoskuse kohustus hakkas kohalduma.</a:t>
            </a:r>
          </a:p>
          <a:p xmlns:a="http://schemas.openxmlformats.org/drawingml/2006/main">
            <a:r>
              <a:t>• 2.08.2026: teatud läbipaistvusreeglite kohaldumise algus.</a:t>
            </a:r>
          </a:p>
          <a:p xmlns:a="http://schemas.openxmlformats.org/drawingml/2006/main">
            <a:r>
              <a:t>• 2.12.2027: III lisa kõrge riskiga süsteemide põhikohustuste uus kuupäev.</a:t>
            </a:r>
          </a:p>
          <a:p xmlns:a="http://schemas.openxmlformats.org/drawingml/2006/main">
            <a:r>
              <a:t>• Füüsilistesse toodetesse integreeritud kõrge riskiga süsteemidel on eraldi ajajoon.</a:t>
            </a:r>
          </a:p>
          <a:p xmlns:a="http://schemas.openxmlformats.org/drawingml/2006/main">
            <a:r>
              <a:t>• Ajajoon kontrollitakse enne iga koolitust uuesti.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https://digital-strategy.ec.europa.eu/en/faqs/ai-literacy-questions-answers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S19. Miks see koolitus on ikkagi „praegu”</a:t>
            </a:r>
          </a:p>
          <a:p xmlns:a="http://schemas.openxmlformats.org/drawingml/2006/main">
            <a:r>
              <a:t>• AI kasutamine töös on juba alanud.</a:t>
            </a:r>
          </a:p>
          <a:p xmlns:a="http://schemas.openxmlformats.org/drawingml/2006/main">
            <a:r>
              <a:t>• Asutus peab looma rollile ja riskile vastava AI-kirjaoskuse.</a:t>
            </a:r>
          </a:p>
          <a:p xmlns:a="http://schemas.openxmlformats.org/drawingml/2006/main">
            <a:r>
              <a:t>• AKI rõhutab, et töötaja peab lähtuma tööandja juhistest ning avalikku tehisarusse ei sisestata kliendiandmeid ega konfidentsiaalset tööinfot.</a:t>
            </a:r>
          </a:p>
          <a:p xmlns:a="http://schemas.openxmlformats.org/drawingml/2006/main">
            <a:r>
              <a:t>• Tähtaeg ei ole ainus põhjus; tegelik kasutus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https://digital-strategy.ec.europa.eu/en/faqs/ai-literacy-questions-answers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S21. Ülesanne – andmed – tööriist</a:t>
            </a:r>
          </a:p>
          <a:p xmlns:a="http://schemas.openxmlformats.org/drawingml/2006/main">
            <a:r>
              <a:t>• Sobiv ülesanne vales tööriistas võib olla ohtlik.</a:t>
            </a:r>
          </a:p>
          <a:p xmlns:a="http://schemas.openxmlformats.org/drawingml/2006/main">
            <a:r>
              <a:t>• Hea tööriist ei tee ebavajalikku andmetöötlust vajalikuks.</a:t>
            </a:r>
          </a:p>
          <a:p xmlns:a="http://schemas.openxmlformats.org/drawingml/2006/main">
            <a:r>
              <a:t>• Anonüümne sisend ei muuda otsustamist automaatselt sobivaks.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S22. Avalik, sünteetiline, anonüümne, pseudonüümne, isikustatud</a:t>
            </a:r>
          </a:p>
          <a:p xmlns:a="http://schemas.openxmlformats.org/drawingml/2006/main">
            <a:r>
              <a:t>• Avalik: avaldamine ei tähenda, et kõiki kasutusviise võib piiranguta teha.</a:t>
            </a:r>
          </a:p>
          <a:p xmlns:a="http://schemas.openxmlformats.org/drawingml/2006/main">
            <a:r>
              <a:t>• Sünteetiline: väljamõeldud, kuid realistlik õppematerjal.</a:t>
            </a:r>
          </a:p>
          <a:p xmlns:a="http://schemas.openxmlformats.org/drawingml/2006/main">
            <a:r>
              <a:t>• Anonüümne: inimest ei saa mõistlikult kasutatavate vahenditega tuvastada.</a:t>
            </a:r>
          </a:p>
          <a:p xmlns:a="http://schemas.openxmlformats.org/drawingml/2006/main">
            <a:r>
              <a:t>• Pseudonüümne: nimi on asendatud, kuid seos inimesega on taastatav.</a:t>
            </a:r>
          </a:p>
          <a:p xmlns:a="http://schemas.openxmlformats.org/drawingml/2006/main">
            <a:r>
              <a:t>• Isikustatud: otseselt või kaudselt tuvastatava inimese andmed.</a:t>
            </a:r>
          </a:p>
          <a:p xmlns:a="http://schemas.openxmlformats.org/drawingml/2006/main">
            <a:r>
              <a:t>• Lisaks isikuandmetele kontrolli konfidentsiaalsust, lepingut ja õigust dokumendi sisu välisele teenusele edastada.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S23. Nime kustutamine ei pruugi aidata</a:t>
            </a:r>
          </a:p>
          <a:p xmlns:a="http://schemas.openxmlformats.org/drawingml/2006/main">
            <a:r>
              <a:t>• Näide: vanus + amet + väike küla + haruldane peresündmus.</a:t>
            </a:r>
          </a:p>
          <a:p xmlns:a="http://schemas.openxmlformats.org/drawingml/2006/main">
            <a:r>
              <a:t>• Küsimus pole ainult selles, kas AI-teenuse pakkuja teab nime. Küsimus on, kas inimene on andmetest tuvastatav.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S24. Minimeerimine enne anonüümimist</a:t>
            </a:r>
          </a:p>
          <a:p xmlns:a="http://schemas.openxmlformats.org/drawingml/2006/main">
            <a:r>
              <a:t>• Kõigepealt küsi: kas seda detaili on ülesande jaoks üldse vaja?</a:t>
            </a:r>
          </a:p>
          <a:p xmlns:a="http://schemas.openxmlformats.org/drawingml/2006/main">
            <a:r>
              <a:t>• Alles seejärel üldista või eemalda vajalikku konteksti kahjustamata.</a:t>
            </a:r>
          </a:p>
          <a:p xmlns:a="http://schemas.openxmlformats.org/drawingml/2006/main">
            <a:r>
              <a:t>• Mõnikord on õige otsus kogu juhtum AI-st välja jätta.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S25. Harjutus H2: kas sellest saab turvalise sisendi?</a:t>
            </a:r>
          </a:p>
          <a:p xmlns:a="http://schemas.openxmlformats.org/drawingml/2006/main">
            <a:r>
              <a:t>• Leia äratuntavad detailid.</a:t>
            </a:r>
          </a:p>
          <a:p xmlns:a="http://schemas.openxmlformats.org/drawingml/2006/main">
            <a:r>
              <a:t>• Erista oluline taust dekoratiivsest taustast.</a:t>
            </a:r>
          </a:p>
          <a:p xmlns:a="http://schemas.openxmlformats.org/drawingml/2006/main">
            <a:r>
              <a:t>• Otsusta, kas tulemus on anonüümne, pseudonüümne või endiselt äratuntav.</a:t>
            </a:r>
          </a:p>
          <a:p xmlns:a="http://schemas.openxmlformats.org/drawingml/2006/main">
            <a:r>
              <a:t>• Viimane küsimus ei ole „kas nüüd võib?”, vaid „kas asutuse reegel ja tööriist lubavad?”.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S26. Tasuta või tasuline ei otsusta sobivust</a:t>
            </a:r>
          </a:p>
          <a:p xmlns:a="http://schemas.openxmlformats.org/drawingml/2006/main">
            <a:r>
              <a:t>• Tarbijaversiooni ja organisatsiooniversiooni tingimused võivad erineda.</a:t>
            </a:r>
          </a:p>
          <a:p xmlns:a="http://schemas.openxmlformats.org/drawingml/2006/main">
            <a:r>
              <a:t>• Kontrolli konkreetset kontot, versiooni, lepingut ja seadistust.</a:t>
            </a:r>
          </a:p>
          <a:p xmlns:a="http://schemas.openxmlformats.org/drawingml/2006/main">
            <a:r>
              <a:t>• Küsi: kas sisendeid kasutatakse mudeli arendamiseks, kui kaua neid hoitakse, kuhu need liiguvad ja kes ligi pääseb?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S27. EL-is majutatud ei tähenda automaatselt lubatud</a:t>
            </a:r>
          </a:p>
          <a:p xmlns:a="http://schemas.openxmlformats.org/drawingml/2006/main">
            <a:r>
              <a:t>• Asukoht ja andmeedastus on üks osa.</a:t>
            </a:r>
          </a:p>
          <a:p xmlns:a="http://schemas.openxmlformats.org/drawingml/2006/main">
            <a:r>
              <a:t>• Lisaks on vaja eesmärki, õiguslikku alust, minimaalsust, ligipääsukontrolli, säilitamisreeglit, turvameetmeid ja intsidentide plaani.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S28. Kui sisestasid midagi valesse kohta</a:t>
            </a:r>
          </a:p>
          <a:p xmlns:a="http://schemas.openxmlformats.org/drawingml/2006/main">
            <a:r>
              <a:t>• Peata.</a:t>
            </a:r>
          </a:p>
          <a:p xmlns:a="http://schemas.openxmlformats.org/drawingml/2006/main">
            <a:r>
              <a:t>• Ära lisa uusi andmeid ega jaga kuvatõmmist laiali.</a:t>
            </a:r>
          </a:p>
          <a:p xmlns:a="http://schemas.openxmlformats.org/drawingml/2006/main">
            <a:r>
              <a:t>• Teata kokkulepitud kanalisse.</a:t>
            </a:r>
          </a:p>
          <a:p xmlns:a="http://schemas.openxmlformats.org/drawingml/2006/main">
            <a:r>
              <a:t>• Pane kirja minimaalne vajalik: milline süsteem, millal, millist liiki andmed ja milline tegevus.</a:t>
            </a:r>
          </a:p>
          <a:p xmlns:a="http://schemas.openxmlformats.org/drawingml/2006/main">
            <a:r>
              <a:t>• Asutus, mitte üksik töötaja, hindab rikkumist ja teavitamiskohustust.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S29. Intsident ei ole häbiharjutus</a:t>
            </a:r>
          </a:p>
          <a:p xmlns:a="http://schemas.openxmlformats.org/drawingml/2006/main">
            <a:r>
              <a:t>• Varjamine suurendab kahju ja vähendab reageerimisaega.</a:t>
            </a:r>
          </a:p>
          <a:p xmlns:a="http://schemas.openxmlformats.org/drawingml/2006/main">
            <a:r>
              <a:t>• Hea süsteem teeb teatamise lihtsaks ega karista ausat varajast teadet.</a:t>
            </a:r>
          </a:p>
          <a:p xmlns:a="http://schemas.openxmlformats.org/drawingml/2006/main">
            <a:r>
              <a:t>• Juhi küsimus ei ole ainult „kes eksis?”, vaid „miks sai see töövoog üldse võimalikuks?”.</a:t>
            </a:r>
          </a:p>
          <a:p xmlns:a="http://schemas.openxmlformats.org/drawingml/2006/main">
            <a:r>
              <a:t>• Koolitaja jagab kohtumise lõpus sisendi eelkontrolli ja intsidendi kiirkaardi, et need oleksid osalejal kasutada juba enne järgmist kohtumist.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K2. Kohtumise 2 avaslaid — praktilised töövõtted</a:t>
            </a:r>
          </a:p>
          <a:p xmlns:a="http://schemas.openxmlformats.org/drawingml/2006/main">
            <a:r>
              <a:t>• Mida leidsid oma asutuse AI-juhise, lubatud tööriista ja intsidendikanali kohta?</a:t>
            </a:r>
          </a:p>
          <a:p xmlns:a="http://schemas.openxmlformats.org/drawingml/2006/main">
            <a:r>
              <a:t>• Kui vastust ei leidnud, milline otsus või kontakt on puudu?</a:t>
            </a:r>
          </a:p>
          <a:p xmlns:a="http://schemas.openxmlformats.org/drawingml/2006/main">
            <a:r>
              <a:t>• Tänane tulemus: kolm töövõtet, mille väljundit saab allika ja lähtefaktide vastu kontrollida.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S30. Kolm töövõtet, mida harjutame</a:t>
            </a:r>
          </a:p>
          <a:p xmlns:a="http://schemas.openxmlformats.org/drawingml/2006/main">
            <a:r>
              <a:t>• Dokumendimustand.</a:t>
            </a:r>
          </a:p>
          <a:p xmlns:a="http://schemas.openxmlformats.org/drawingml/2006/main">
            <a:r>
              <a:t>• Ametliku teksti selgitus.</a:t>
            </a:r>
          </a:p>
          <a:p xmlns:a="http://schemas.openxmlformats.org/drawingml/2006/main">
            <a:r>
              <a:t>• Avaliku allika kokkuvõte.</a:t>
            </a:r>
          </a:p>
          <a:p xmlns:a="http://schemas.openxmlformats.org/drawingml/2006/main">
            <a:r>
              <a:t>• Kõigi kolme puhul on sisend lubatud, väljund kontrollitav ja vastutaja inimene.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S31. Hea tööülesande kuus osa</a:t>
            </a:r>
          </a:p>
          <a:p xmlns:a="http://schemas.openxmlformats.org/drawingml/2006/main">
            <a:r>
              <a:t>• Eesmärk.</a:t>
            </a:r>
          </a:p>
          <a:p xmlns:a="http://schemas.openxmlformats.org/drawingml/2006/main">
            <a:r>
              <a:t>• Adressaat.</a:t>
            </a:r>
          </a:p>
          <a:p xmlns:a="http://schemas.openxmlformats.org/drawingml/2006/main">
            <a:r>
              <a:t>• Lubatud lähtefaktid.</a:t>
            </a:r>
          </a:p>
          <a:p xmlns:a="http://schemas.openxmlformats.org/drawingml/2006/main">
            <a:r>
              <a:t>• Piirid: mida ei tohi lisada või oletada.</a:t>
            </a:r>
          </a:p>
          <a:p xmlns:a="http://schemas.openxmlformats.org/drawingml/2006/main">
            <a:r>
              <a:t>• Soovitud vorm ja pikkus.</a:t>
            </a:r>
          </a:p>
          <a:p xmlns:a="http://schemas.openxmlformats.org/drawingml/2006/main">
            <a:r>
              <a:t>• Kontrollinõue: märgi ebakindlus ja ära lisa uusi fakte.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S32. Harjutus H3: dokumendimustand</a:t>
            </a:r>
          </a:p>
          <a:p xmlns:a="http://schemas.openxmlformats.org/drawingml/2006/main">
            <a:r>
              <a:t>• Kasuta ainult sünteetilist faktilehte.</a:t>
            </a:r>
          </a:p>
          <a:p xmlns:a="http://schemas.openxmlformats.org/drawingml/2006/main">
            <a:r>
              <a:t>• Koosta kaks versiooni: ametlik ja lihtsas keeles.</a:t>
            </a:r>
          </a:p>
          <a:p xmlns:a="http://schemas.openxmlformats.org/drawingml/2006/main">
            <a:r>
              <a:t>• Leia väljundist vähemalt üks parandatav faktirisk, toonirisk või põhjendamatu lubadus.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S33. Ilus, aga vale</a:t>
            </a:r>
          </a:p>
          <a:p xmlns:a="http://schemas.openxmlformats.org/drawingml/2006/main">
            <a:r>
              <a:t>• Keeleline sujuvus võib vähendada töötaja valvsust.</a:t>
            </a:r>
          </a:p>
          <a:p xmlns:a="http://schemas.openxmlformats.org/drawingml/2006/main">
            <a:r>
              <a:t>• Loe väljundit nagu kolleegi mustandit, mitte nagu tarkvara tulemust.</a:t>
            </a:r>
          </a:p>
          <a:p xmlns:a="http://schemas.openxmlformats.org/drawingml/2006/main">
            <a:r>
              <a:t>• Kontrolli eriti numbreid, tähtaegu, põhjuseid ja tegevuslubadusi.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S34. Selge keel ei ole sisu vähendamine</a:t>
            </a:r>
          </a:p>
          <a:p xmlns:a="http://schemas.openxmlformats.org/drawingml/2006/main">
            <a:r>
              <a:t>• Inimene peab mõistma, mis otsustati, miks, mida ta saab edasi teha ja millal.</a:t>
            </a:r>
          </a:p>
          <a:p xmlns:a="http://schemas.openxmlformats.org/drawingml/2006/main">
            <a:r>
              <a:t>• AI võib aidata lauseid ümber teha, kuid õigusliku sisu muutumine on viga.</a:t>
            </a:r>
          </a:p>
          <a:p xmlns:a="http://schemas.openxmlformats.org/drawingml/2006/main">
            <a:r>
              <a:t>• Sotsiaalteenuste kvaliteedijuhis seob teenuse kvaliteedi ajakohase ja arusaadava infoga.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https://www.sotsiaalkindlustusamet.ee/media/2595/download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S35. Harjutus H4: õppeotsus ja faktileht</a:t>
            </a:r>
          </a:p>
          <a:p xmlns:a="http://schemas.openxmlformats.org/drawingml/2006/main">
            <a:r>
              <a:t>• Esmalt märgi algtekstis muutumatud faktid.</a:t>
            </a:r>
          </a:p>
          <a:p xmlns:a="http://schemas.openxmlformats.org/drawingml/2006/main">
            <a:r>
              <a:t>• Lase koostada selgitus.</a:t>
            </a:r>
          </a:p>
          <a:p xmlns:a="http://schemas.openxmlformats.org/drawingml/2006/main">
            <a:r>
              <a:t>• Tõenda iga väide algteksti või faktilehe abil.</a:t>
            </a:r>
          </a:p>
          <a:p xmlns:a="http://schemas.openxmlformats.org/drawingml/2006/main">
            <a:r>
              <a:t>• Tähista, mida selgitus jättis välja.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https://www.sotsiaalkindlustusamet.ee/media/2595/download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S36. Kokkuvõte ei vabasta allika lugemisest</a:t>
            </a:r>
          </a:p>
          <a:p xmlns:a="http://schemas.openxmlformats.org/drawingml/2006/main">
            <a:r>
              <a:t>• Kokkuvõte aitab orienteeruda, mitte asendab allikat.</a:t>
            </a:r>
          </a:p>
          <a:p xmlns:a="http://schemas.openxmlformats.org/drawingml/2006/main">
            <a:r>
              <a:t>• Väite juures peab olema lehekülg või lõik.</a:t>
            </a:r>
          </a:p>
          <a:p xmlns:a="http://schemas.openxmlformats.org/drawingml/2006/main">
            <a:r>
              <a:t>• Kui asukohta ei leia, on väide kontrollimata.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https://www.sotsiaalkindlustusamet.ee/media/2595/download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S37. Harjutus H5: viis punkti, viis allikajälge</a:t>
            </a:r>
          </a:p>
          <a:p xmlns:a="http://schemas.openxmlformats.org/drawingml/2006/main">
            <a:r>
              <a:t>• Alus: Sotsiaalkindlustusameti avaliku kvaliteedijuhise valitud väljavõte.</a:t>
            </a:r>
          </a:p>
          <a:p xmlns:a="http://schemas.openxmlformats.org/drawingml/2006/main">
            <a:r>
              <a:t>• Väljund: viis punkti koos lehekülje või lõiguga.</a:t>
            </a:r>
          </a:p>
          <a:p xmlns:a="http://schemas.openxmlformats.org/drawingml/2006/main">
            <a:r>
              <a:t>• Paariline kontrollib ainult allika põhjal.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https://www.sotsiaalkindlustusamet.ee/media/2595/download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S38. Päritolu peab jääma nähtavaks</a:t>
            </a:r>
          </a:p>
          <a:p xmlns:a="http://schemas.openxmlformats.org/drawingml/2006/main">
            <a:r>
              <a:t>• Kliendi öeldu.</a:t>
            </a:r>
          </a:p>
          <a:p xmlns:a="http://schemas.openxmlformats.org/drawingml/2006/main">
            <a:r>
              <a:t>• Töötaja tähelepanek.</a:t>
            </a:r>
          </a:p>
          <a:p xmlns:a="http://schemas.openxmlformats.org/drawingml/2006/main">
            <a:r>
              <a:t>• Töötaja tõlgendus.</a:t>
            </a:r>
          </a:p>
          <a:p xmlns:a="http://schemas.openxmlformats.org/drawingml/2006/main">
            <a:r>
              <a:t>• Dokumendi väide.</a:t>
            </a:r>
          </a:p>
          <a:p xmlns:a="http://schemas.openxmlformats.org/drawingml/2006/main">
            <a:r>
              <a:t>• AI loodud mustand.</a:t>
            </a:r>
          </a:p>
          <a:p xmlns:a="http://schemas.openxmlformats.org/drawingml/2006/main">
            <a:r>
              <a:t>• AI kipub need üheks ladusaks looks siluma; spetsialist peab piirid taastama.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https://www.sotsiaalkindlustusamet.ee/media/2595/download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K3. Kohtumise 3 avaslaid — otsustuspiir ja asutuse reegel</a:t>
            </a:r>
          </a:p>
          <a:p xmlns:a="http://schemas.openxmlformats.org/drawingml/2006/main">
            <a:r>
              <a:t>• Millist kontrollivõtet proovisid?</a:t>
            </a:r>
          </a:p>
          <a:p xmlns:a="http://schemas.openxmlformats.org/drawingml/2006/main">
            <a:r>
              <a:t>• Millise vea, lisanduse või ebatäpsuse see kinni püüdis?</a:t>
            </a:r>
          </a:p>
          <a:p xmlns:a="http://schemas.openxmlformats.org/drawingml/2006/main">
            <a:r>
              <a:t>• Tänane tulemus: osaleja eristab enda töövõtet otsusest, mille peab tegema asutus.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S40. Mõju loeb rohkem kui funktsiooni nimi</a:t>
            </a:r>
          </a:p>
          <a:p xmlns:a="http://schemas.openxmlformats.org/drawingml/2006/main">
            <a:r>
              <a:t>• Kas süsteem valib inimese kohta arvesse minevad asjaolud?</a:t>
            </a:r>
          </a:p>
          <a:p xmlns:a="http://schemas.openxmlformats.org/drawingml/2006/main">
            <a:r>
              <a:t>• Kas ta ennustab riski või sobivust?</a:t>
            </a:r>
          </a:p>
          <a:p xmlns:a="http://schemas.openxmlformats.org/drawingml/2006/main">
            <a:r>
              <a:t>• Kas ta soovitab tulemust või seab järjekorra?</a:t>
            </a:r>
          </a:p>
          <a:p xmlns:a="http://schemas.openxmlformats.org/drawingml/2006/main">
            <a:r>
              <a:t>• Kas töötaja näeb AI hinnangut enne enda hinnangu tegemist?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S41. Meie praktiline punane joon</a:t>
            </a:r>
          </a:p>
          <a:p xmlns:a="http://schemas.openxmlformats.org/drawingml/2006/main">
            <a:r>
              <a:t>• Üldine generatiivne AI ei soovita konkreetse inimese toetuse, teenuse, riski, abivajaduse ega prioriteedi otsust.</a:t>
            </a:r>
          </a:p>
          <a:p xmlns:a="http://schemas.openxmlformats.org/drawingml/2006/main">
            <a:r>
              <a:t>• See on teadlik turvareegel. Ära esita seda väitena, et iga kõrge riskiga süsteem on seadusega keelatud.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S42. Juhtum J2: AI soovitab keeldumist</a:t>
            </a:r>
          </a:p>
          <a:p xmlns:a="http://schemas.openxmlformats.org/drawingml/2006/main">
            <a:r>
              <a:t>• Mis hetkel hakkas AI otsust mõjutama?</a:t>
            </a:r>
          </a:p>
          <a:p xmlns:a="http://schemas.openxmlformats.org/drawingml/2006/main">
            <a:r>
              <a:t>• Kas anonüümimine lahendas põhiprobleemi?</a:t>
            </a:r>
          </a:p>
          <a:p xmlns:a="http://schemas.openxmlformats.org/drawingml/2006/main">
            <a:r>
              <a:t>• Milline üldine küsimus oleks konkreetse soovituse asemel sobivam?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S43. Juhtum J5: töötajate läbipõlemisrisk</a:t>
            </a:r>
          </a:p>
          <a:p xmlns:a="http://schemas.openxmlformats.org/drawingml/2006/main">
            <a:r>
              <a:t>• Eesmärk võib olla hea, kuid andmed ja tagajärg töötaja jaoks võivad olla suure mõjuga.</a:t>
            </a:r>
          </a:p>
          <a:p xmlns:a="http://schemas.openxmlformats.org/drawingml/2006/main">
            <a:r>
              <a:t>• Erista vabatahtlik individuaalne enesepeegeldus, anonüümne koond ja juhtkonna individuaalne riskiprofiil.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S44. Juhtum J8: lapse vestluse märkmed</a:t>
            </a:r>
          </a:p>
          <a:p xmlns:a="http://schemas.openxmlformats.org/drawingml/2006/main">
            <a:r>
              <a:t>• Kõrge tundlikkus ei tähenda automaatselt, et ükski tehnoloogia pole võimalik.</a:t>
            </a:r>
          </a:p>
          <a:p xmlns:a="http://schemas.openxmlformats.org/drawingml/2006/main">
            <a:r>
              <a:t>• See tähendab, et üldine tarbijatööriist ja improviseeritud õiguslik alus ei ole vastuvõetavad.</a:t>
            </a:r>
          </a:p>
          <a:p xmlns:a="http://schemas.openxmlformats.org/drawingml/2006/main">
            <a:r>
              <a:t>• EL-i majutus üksi ei lahenda eesmärki, ligipääsu, säilitamist ega mõju.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S45. Juhtum J9: avaliku huvi tekst</a:t>
            </a:r>
          </a:p>
          <a:p xmlns:a="http://schemas.openxmlformats.org/drawingml/2006/main">
            <a:r>
              <a:t>• Kas AI roll oli standardne toimetamine või sisuline genereerimine?</a:t>
            </a:r>
          </a:p>
          <a:p xmlns:a="http://schemas.openxmlformats.org/drawingml/2006/main">
            <a:r>
              <a:t>• Kas inimene tegi sisulise ülevaatuse ja võttis toimetusvastutuse?</a:t>
            </a:r>
          </a:p>
          <a:p xmlns:a="http://schemas.openxmlformats.org/drawingml/2006/main">
            <a:r>
              <a:t>• Kas artikli 50 märgistamisreegel kohaldub?</a:t>
            </a:r>
          </a:p>
          <a:p xmlns:a="http://schemas.openxmlformats.org/drawingml/2006/main">
            <a:r>
              <a:t>• Vajaduse korral kontrolli Komisjoni juhist, mitte ära otsusta märksõna „AI” põhjal.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https://digital-strategy.ec.europa.eu/en/library/guidelines-transparency-obligations-providers-and-deployers-ai-systems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S46. Kui klient tuleb AI-vastusega</a:t>
            </a:r>
          </a:p>
          <a:p xmlns:a="http://schemas.openxmlformats.org/drawingml/2006/main">
            <a:r>
              <a:t>• Ära naeruväärista.</a:t>
            </a:r>
          </a:p>
          <a:p xmlns:a="http://schemas.openxmlformats.org/drawingml/2006/main">
            <a:r>
              <a:t>• Küsi, millisest allikast väide pärineb.</a:t>
            </a:r>
          </a:p>
          <a:p xmlns:a="http://schemas.openxmlformats.org/drawingml/2006/main">
            <a:r>
              <a:t>• Kontrollige koos ametlikust allikast.</a:t>
            </a:r>
          </a:p>
          <a:p xmlns:a="http://schemas.openxmlformats.org/drawingml/2006/main">
            <a:r>
              <a:t>• Selgita, milline asutus ja milline menetlus teeb päris otsuse.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S47. Läbipaistvus ei ole üks universaalne lause</a:t>
            </a:r>
          </a:p>
          <a:p xmlns:a="http://schemas.openxmlformats.org/drawingml/2006/main">
            <a:r>
              <a:t>• Õiguslik teavitamiskohustus sõltub kasutusest.</a:t>
            </a:r>
          </a:p>
          <a:p xmlns:a="http://schemas.openxmlformats.org/drawingml/2006/main">
            <a:r>
              <a:t>• Ametialane ausus eeldab, et spetsialist suudab AI rolli selgitada.</a:t>
            </a:r>
          </a:p>
          <a:p xmlns:a="http://schemas.openxmlformats.org/drawingml/2006/main">
            <a:r>
              <a:t>• Sobiv näide: „Kasutasin teksti sõnastamiseks abivahendit, kontrollisin faktid ja otsuse tegin mina.”</a:t>
            </a:r>
          </a:p>
          <a:p xmlns:a="http://schemas.openxmlformats.org/drawingml/2006/main">
            <a:r>
              <a:t>• Seda lauset ei kasutata automaatse vabandusena, kui AI tegelikult kujundas otsuse.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  <a:p xmlns:a="http://schemas.openxmlformats.org/drawingml/2006/main">
            <a:r>
              <a:t>https://digital-strategy.ec.europa.eu/en/library/guidelines-transparency-obligations-providers-and-deployers-ai-systems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S48. Eetika kontrollküsimus</a:t>
            </a:r>
          </a:p>
          <a:p xmlns:a="http://schemas.openxmlformats.org/drawingml/2006/main">
            <a:r>
              <a:t>• Kas töövõte annab spetsialistile rohkem aega inimese jaoks või eemaldab inimese otsusest?</a:t>
            </a:r>
          </a:p>
          <a:p xmlns:a="http://schemas.openxmlformats.org/drawingml/2006/main">
            <a:r>
              <a:t>• Kas inimene saab aru, vaidlustada ja parandada?</a:t>
            </a:r>
          </a:p>
          <a:p xmlns:a="http://schemas.openxmlformats.org/drawingml/2006/main">
            <a:r>
              <a:t>• Kes kannab vea tagajärje?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S49. Keeld üksi ei loo kontrolli</a:t>
            </a:r>
          </a:p>
          <a:p xmlns:a="http://schemas.openxmlformats.org/drawingml/2006/main">
            <a:r>
              <a:t>• Kui vajadus jääb, kuid lubatud rada puudub, läheb kasutus varju.</a:t>
            </a:r>
          </a:p>
          <a:p xmlns:a="http://schemas.openxmlformats.org/drawingml/2006/main">
            <a:r>
              <a:t>• Samas ei ole „kõik kasutavad” põhjendus.</a:t>
            </a:r>
          </a:p>
          <a:p xmlns:a="http://schemas.openxmlformats.org/drawingml/2006/main">
            <a:r>
              <a:t>• Asutus peab nimetama lubatud ülesanded, tööriistad, andmed, kontrolli ja kontaktid.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S50. Enne toodet sõnasta eesmärk</a:t>
            </a:r>
          </a:p>
          <a:p xmlns:a="http://schemas.openxmlformats.org/drawingml/2006/main">
            <a:r>
              <a:t>• Millist tööprobleemi lahendame?</a:t>
            </a:r>
          </a:p>
          <a:p xmlns:a="http://schemas.openxmlformats.org/drawingml/2006/main">
            <a:r>
              <a:t>• Kellele tekib kasu ja kellele risk?</a:t>
            </a:r>
          </a:p>
          <a:p xmlns:a="http://schemas.openxmlformats.org/drawingml/2006/main">
            <a:r>
              <a:t>• Kas sama tulemuse saab väiksema andmetöötlusega?</a:t>
            </a:r>
          </a:p>
          <a:p xmlns:a="http://schemas.openxmlformats.org/drawingml/2006/main">
            <a:r>
              <a:t>• Millise mõõdiku järgi otsustame, kas kasutus töötab?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S51. Tööriista kontrollkaart</a:t>
            </a:r>
          </a:p>
          <a:p xmlns:a="http://schemas.openxmlformats.org/drawingml/2006/main">
            <a:r>
              <a:t>• Leping ja osapoolte rollid.</a:t>
            </a:r>
          </a:p>
          <a:p xmlns:a="http://schemas.openxmlformats.org/drawingml/2006/main">
            <a:r>
              <a:t>• Andmete asukoht, edastused, treenimine ja säilitamine.</a:t>
            </a:r>
          </a:p>
          <a:p xmlns:a="http://schemas.openxmlformats.org/drawingml/2006/main">
            <a:r>
              <a:t>• Ligipääsud, logid, kustutamine ja eksport.</a:t>
            </a:r>
          </a:p>
          <a:p xmlns:a="http://schemas.openxmlformats.org/drawingml/2006/main">
            <a:r>
              <a:t>• Kvaliteet, kallutatus, turvalisus ja ligipääsetavus.</a:t>
            </a:r>
          </a:p>
          <a:p xmlns:a="http://schemas.openxmlformats.org/drawingml/2006/main">
            <a:r>
              <a:t>• Mõjuhinnangud, inimjärelevalve ja intsidentide protsess.</a:t>
            </a:r>
          </a:p>
          <a:p xmlns:a="http://schemas.openxmlformats.org/drawingml/2006/main">
            <a:r>
              <a:t>• Teenusest väljumise plaan.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S52. Meeskonnareegli miinimum</a:t>
            </a:r>
          </a:p>
          <a:p xmlns:a="http://schemas.openxmlformats.org/drawingml/2006/main">
            <a:r>
              <a:t>• Lubatud ülesanded ja andmeliigid.</a:t>
            </a:r>
          </a:p>
          <a:p xmlns:a="http://schemas.openxmlformats.org/drawingml/2006/main">
            <a:r>
              <a:t>• Keelatud või kooskõlastatavad kasutused.</a:t>
            </a:r>
          </a:p>
          <a:p xmlns:a="http://schemas.openxmlformats.org/drawingml/2006/main">
            <a:r>
              <a:t>• Heakskiidetud tööriist ja konto.</a:t>
            </a:r>
          </a:p>
          <a:p xmlns:a="http://schemas.openxmlformats.org/drawingml/2006/main">
            <a:r>
              <a:t>• Kohustuslik kontroll.</a:t>
            </a:r>
          </a:p>
          <a:p xmlns:a="http://schemas.openxmlformats.org/drawingml/2006/main">
            <a:r>
              <a:t>• Intsidendi kontakt.</a:t>
            </a:r>
          </a:p>
          <a:p xmlns:a="http://schemas.openxmlformats.org/drawingml/2006/main">
            <a:r>
              <a:t>• Reegli järgmine ülevaatuskuupäev.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S53. Rühmatöö: üks reegel ja üks lahendamata küsimus</a:t>
            </a:r>
          </a:p>
          <a:p xmlns:a="http://schemas.openxmlformats.org/drawingml/2006/main">
            <a:r>
              <a:t>• Koostage üks reegel, mida töötaja saab homme järgida.</a:t>
            </a:r>
          </a:p>
          <a:p xmlns:a="http://schemas.openxmlformats.org/drawingml/2006/main">
            <a:r>
              <a:t>• Sõnastage üks küsimus, mida töötaja ise lahendada ei saa.</a:t>
            </a:r>
          </a:p>
          <a:p xmlns:a="http://schemas.openxmlformats.org/drawingml/2006/main">
            <a:r>
              <a:t>• Eesmärk on näidata, et AI-kirjaoskus ei nihuta asutuse vastutust üksiktöötajale.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S54. Järelmaterjalide tervik</a:t>
            </a:r>
          </a:p>
          <a:p xmlns:a="http://schemas.openxmlformats.org/drawingml/2006/main">
            <a:r>
              <a:t>• Sisendi eelkontroll ja intsidendi kiirkaart anti kätte kohtumisel 1.</a:t>
            </a:r>
          </a:p>
          <a:p xmlns:a="http://schemas.openxmlformats.org/drawingml/2006/main">
            <a:r>
              <a:t>• Tööriista kasutuselevõtu kontroll.</a:t>
            </a:r>
          </a:p>
          <a:p xmlns:a="http://schemas.openxmlformats.org/drawingml/2006/main">
            <a:r>
              <a:t>• Otsustuspiiri kontroll.</a:t>
            </a:r>
          </a:p>
          <a:p xmlns:a="http://schemas.openxmlformats.org/drawingml/2006/main">
            <a:r>
              <a:t>• Väljundi kvaliteedikontroll.</a:t>
            </a:r>
          </a:p>
          <a:p xmlns:a="http://schemas.openxmlformats.org/drawingml/2006/main">
            <a:r>
              <a:t>• Lisaks meeskonnareeglite mall ja ametlike allikate loend.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S55. Minu homne samm</a:t>
            </a:r>
          </a:p>
          <a:p xmlns:a="http://schemas.openxmlformats.org/drawingml/2006/main">
            <a:r>
              <a:t>• Üks kasutus, millest loobun või mille peatan.</a:t>
            </a:r>
          </a:p>
          <a:p xmlns:a="http://schemas.openxmlformats.org/drawingml/2006/main">
            <a:r>
              <a:t>• Üks sünteetilise või avaliku sisuga töövõte, mida proovin.</a:t>
            </a:r>
          </a:p>
          <a:p xmlns:a="http://schemas.openxmlformats.org/drawingml/2006/main">
            <a:r>
              <a:t>• Üks küsimus, mille viin juhile või andmekaitsespetsialistile.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S56. Lõppkontroll</a:t>
            </a:r>
          </a:p>
          <a:p xmlns:a="http://schemas.openxmlformats.org/drawingml/2006/main">
            <a:r>
              <a:t>• Samad lühistsenaariumid nagu avaküsitluses.</a:t>
            </a:r>
          </a:p>
          <a:p xmlns:a="http://schemas.openxmlformats.org/drawingml/2006/main">
            <a:r>
              <a:t>• Osaleja valib: sobiv; sobiv ainult tingimustel; peata ja küsi; ära kasuta.</a:t>
            </a:r>
          </a:p>
          <a:p xmlns:a="http://schemas.openxmlformats.org/drawingml/2006/main">
            <a:r>
              <a:t>• Koolitaja võrdleb rühma alg- ja lõppvastuseid.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S57. Üks lause koju</a:t>
            </a:r>
          </a:p>
          <a:p xmlns:a="http://schemas.openxmlformats.org/drawingml/2006/main">
            <a:r>
              <a:t>• AI võib kiirendada sõnastamist, kuid ei vabasta sind vajadusest mõista, kontrollida ja vastutada.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S58. Allikad ja kontakt</a:t>
            </a:r>
          </a:p>
          <a:p xmlns:a="http://schemas.openxmlformats.org/drawingml/2006/main">
            <a:r>
              <a:t>• AI-määrus ja Komisjoni rakendusjuhised.</a:t>
            </a:r>
          </a:p>
          <a:p xmlns:a="http://schemas.openxmlformats.org/drawingml/2006/main">
            <a:r>
              <a:t>• Andmekaitse Inspektsiooni tehisaru juhised.</a:t>
            </a:r>
          </a:p>
          <a:p xmlns:a="http://schemas.openxmlformats.org/drawingml/2006/main">
            <a:r>
              <a:t>• STAR-i strateegia 2026–2030.</a:t>
            </a:r>
          </a:p>
          <a:p xmlns:a="http://schemas.openxmlformats.org/drawingml/2006/main">
            <a:r>
              <a:t>• Eesti sotsiaalteenuste üldine kvaliteedijuhis.</a:t>
            </a:r>
          </a:p>
          <a:p xmlns:a="http://schemas.openxmlformats.org/drawingml/2006/main">
            <a:r>
              <a:t>• Koolitaja kontakt.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V1. AI-määruse riskikategooriate näited</a:t>
            </a:r>
          </a:p>
          <a:p xmlns:a="http://schemas.openxmlformats.org/drawingml/2006/main">
            <a:r>
              <a:t>• Kasuta ainult küsimuse korral.</a:t>
            </a:r>
          </a:p>
          <a:p xmlns:a="http://schemas.openxmlformats.org/drawingml/2006/main">
            <a:r>
              <a:t>• Ära kuluta põhikavas aega kogu määruse õpetamisele.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V2. Artikkel 6 lõige 3: ettevalmistava ülesande erand</a:t>
            </a:r>
          </a:p>
          <a:p xmlns:a="http://schemas.openxmlformats.org/drawingml/2006/main">
            <a:r>
              <a:t>• Kuva ametliku teksti lühikokkuvõte ja link.</a:t>
            </a:r>
          </a:p>
          <a:p xmlns:a="http://schemas.openxmlformats.org/drawingml/2006/main">
            <a:r>
              <a:t>• Ära anna üksikjuhtumile klassifikatsiooni.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V3. GDPR artikkel 22 ja sisuline inimsekkumine</a:t>
            </a:r>
          </a:p>
          <a:p xmlns:a="http://schemas.openxmlformats.org/drawingml/2006/main">
            <a:r>
              <a:t>• Automatiseeritud otsus.</a:t>
            </a:r>
          </a:p>
          <a:p xmlns:a="http://schemas.openxmlformats.org/drawingml/2006/main">
            <a:r>
              <a:t>• Oluline mõju.</a:t>
            </a:r>
          </a:p>
          <a:p xmlns:a="http://schemas.openxmlformats.org/drawingml/2006/main">
            <a:r>
              <a:t>• Sisuline inimsekkumine.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https://eur-lex.europa.eu/legal-content/ET/TXT/?uri=CELEX:32024R1689</a:t>
            </a:r>
          </a:p>
          <a:p xmlns:a="http://schemas.openxmlformats.org/drawingml/2006/main">
            <a:r>
              <a:t>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V4. Anonüümne või pseudonüümne?</a:t>
            </a:r>
          </a:p>
          <a:p xmlns:a="http://schemas.openxmlformats.org/drawingml/2006/main">
            <a:r>
              <a:t>• Kolm lisastsenaariumi saaliga lahendamiseks.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V5. Mida teha, kui asutuse reeglit ei ole</a:t>
            </a:r>
          </a:p>
          <a:p xmlns:a="http://schemas.openxmlformats.org/drawingml/2006/main">
            <a:r>
              <a:t>• Ära kasuta kliendi- ega konfidentsiaalseid andmeid avalikus tööriistas.</a:t>
            </a:r>
          </a:p>
          <a:p xmlns:a="http://schemas.openxmlformats.org/drawingml/2006/main">
            <a:r>
              <a:t>• Küsi kirjalik juhis.</a:t>
            </a:r>
          </a:p>
          <a:p xmlns:a="http://schemas.openxmlformats.org/drawingml/2006/main">
            <a:r>
              <a:t>• Paku juhile ühe lehe reegli mustandit.</a:t>
            </a:r>
          </a:p>
          <a:p xmlns:a="http://schemas.openxmlformats.org/drawingml/2006/main">
            <a:r>
              <a:t>• Ära võta üksiktöötajana enda peale asutuse õiguslikku riskihinnangut.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https://eur-lex.europa.eu/legal-content/ET/TXT/?uri=CELEX:32016R0679</a:t>
            </a:r>
          </a:p>
          <a:p xmlns:a="http://schemas.openxmlformats.org/drawingml/2006/main">
            <a:r>
              <a:t>https://www.aki.ee/tehisaru/tehisaru-ja-andmekaitse/isikuandmete-kaitse</a:t>
            </a:r>
          </a:p>
          <a:p xmlns:a="http://schemas.openxmlformats.org/drawingml/2006/main">
            <a:r>
              <a:t>https://www.aki.ee/tehisaru/tehisaru-ja-andmekaitse/tehisaru-kasutusele-votjale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V6. STAR-i strateegia suund</a:t>
            </a:r>
          </a:p>
          <a:p xmlns:a="http://schemas.openxmlformats.org/drawingml/2006/main">
            <a:r>
              <a:t>• STAR-i strateegia 2026–2030 näeb AI-d väärtust loova võimalusena, kuid ainult „selgelt piiratud, kontrollitava ja õiguslikult reguleeritud vahendina”.</a:t>
            </a:r>
          </a:p>
          <a:p xmlns:a="http://schemas.openxmlformats.org/drawingml/2006/main">
            <a:r>
              <a:t>• Koolituse küsimus: milline piir on töötaja jaoks päriselt kasutatav?</a:t>
            </a:r>
          </a:p>
          <a:p xmlns:a="http://schemas.openxmlformats.org/drawingml/2006/main">
            <a:r>
              <a:t>• Kasuta seda slaidi ainult siis, kui tellija soovib STAR-i strateegia seost eraldi käsitleda. Ära kärbi selle jaoks H2, intsidendiosa ega vaheülesannete tagasivaadet.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https://sotsiaalkindlustusamet.ee/sites/default/files/documents/2026-03/Lisa%201_Sotsiaalteenuste%20ja%20-toetuste%20andmeregistri%20strateegia%20aastateks%202026-2030.pdf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856dc667a45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ab1b61d0e488b" /><Relationship Type="http://schemas.openxmlformats.org/officeDocument/2006/relationships/slideLayout" Target="/ppt/slideLayouts/slideLayout1.xml" Id="Rb575df30dea9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5df30dea9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a874c7d7b457f" /><Relationship Type="http://schemas.openxmlformats.org/officeDocument/2006/relationships/notesSlide" Target="/ppt/notesSlides/notesSlide1.xml" Id="Re83b5c024567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be6b453eb4b3d" /><Relationship Type="http://schemas.openxmlformats.org/officeDocument/2006/relationships/notesSlide" Target="/ppt/notesSlides/notesSlide2.xml" Id="Rcd874b7610a4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77354e45c4473" /><Relationship Type="http://schemas.openxmlformats.org/officeDocument/2006/relationships/notesSlide" Target="/ppt/notesSlides/notesSlide3.xml" Id="R7c2b596cf9ef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9925ecb24474" /><Relationship Type="http://schemas.openxmlformats.org/officeDocument/2006/relationships/notesSlide" Target="/ppt/notesSlides/notesSlide4.xml" Id="R8dbf1a4d22a6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a69a538be4b27" /><Relationship Type="http://schemas.openxmlformats.org/officeDocument/2006/relationships/notesSlide" Target="/ppt/notesSlides/notesSlide5.xml" Id="Re5690c55d23a48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e320905f44bb" /><Relationship Type="http://schemas.openxmlformats.org/officeDocument/2006/relationships/notesSlide" Target="/ppt/notesSlides/notesSlide6.xml" Id="R2084594112134d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b75c9ed4846bd" /><Relationship Type="http://schemas.openxmlformats.org/officeDocument/2006/relationships/notesSlide" Target="/ppt/notesSlides/notesSlide7.xml" Id="Rf6bbcc2fa4cd4c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013245494f56" /><Relationship Type="http://schemas.openxmlformats.org/officeDocument/2006/relationships/notesSlide" Target="/ppt/notesSlides/notesSlide8.xml" Id="R942603a26c5a45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0997a1ce54c55" /><Relationship Type="http://schemas.openxmlformats.org/officeDocument/2006/relationships/notesSlide" Target="/ppt/notesSlides/notesSlide9.xml" Id="R3f0f2aa59e1d42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330a7b4d34523" /><Relationship Type="http://schemas.openxmlformats.org/officeDocument/2006/relationships/notesSlide" Target="/ppt/notesSlides/notesSlide10.xml" Id="Rba5eacc548ea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69216ab444b77" /><Relationship Type="http://schemas.openxmlformats.org/officeDocument/2006/relationships/notesSlide" Target="/ppt/notesSlides/notesSlide11.xml" Id="Redf3220a213f46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fa9e4405a43ac" /><Relationship Type="http://schemas.openxmlformats.org/officeDocument/2006/relationships/notesSlide" Target="/ppt/notesSlides/notesSlide12.xml" Id="R3d4f6560258c41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e6fb8ed994336" /><Relationship Type="http://schemas.openxmlformats.org/officeDocument/2006/relationships/notesSlide" Target="/ppt/notesSlides/notesSlide13.xml" Id="R2b0abeff36694a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87d9e0144eac" /><Relationship Type="http://schemas.openxmlformats.org/officeDocument/2006/relationships/notesSlide" Target="/ppt/notesSlides/notesSlide14.xml" Id="Rc5b20013b15e4a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ccaf0ca84a63" /><Relationship Type="http://schemas.openxmlformats.org/officeDocument/2006/relationships/notesSlide" Target="/ppt/notesSlides/notesSlide15.xml" Id="R638656770dc24e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1f6bb89784141" /><Relationship Type="http://schemas.openxmlformats.org/officeDocument/2006/relationships/notesSlide" Target="/ppt/notesSlides/notesSlide16.xml" Id="R2b43b4ea997840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06a869efa4b12" /><Relationship Type="http://schemas.openxmlformats.org/officeDocument/2006/relationships/notesSlide" Target="/ppt/notesSlides/notesSlide17.xml" Id="R5c42966805df46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8290f45f4777" /><Relationship Type="http://schemas.openxmlformats.org/officeDocument/2006/relationships/notesSlide" Target="/ppt/notesSlides/notesSlide18.xml" Id="R6900cb7913e44e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8a372e5244639" /><Relationship Type="http://schemas.openxmlformats.org/officeDocument/2006/relationships/notesSlide" Target="/ppt/notesSlides/notesSlide19.xml" Id="Rc18d3fd3664949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1775e9e61495a" /><Relationship Type="http://schemas.openxmlformats.org/officeDocument/2006/relationships/notesSlide" Target="/ppt/notesSlides/notesSlide20.xml" Id="R93d0d8c0fbcb45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bbc52e13a4b76" /><Relationship Type="http://schemas.openxmlformats.org/officeDocument/2006/relationships/notesSlide" Target="/ppt/notesSlides/notesSlide21.xml" Id="Rdfae25d7b1fd41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fa9385b7642b8" /><Relationship Type="http://schemas.openxmlformats.org/officeDocument/2006/relationships/notesSlide" Target="/ppt/notesSlides/notesSlide22.xml" Id="R1fc7b57865ed47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a1aa46b5343b1" /><Relationship Type="http://schemas.openxmlformats.org/officeDocument/2006/relationships/notesSlide" Target="/ppt/notesSlides/notesSlide23.xml" Id="Rdb64e6cc007f4f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58f0dd784ea0" /><Relationship Type="http://schemas.openxmlformats.org/officeDocument/2006/relationships/notesSlide" Target="/ppt/notesSlides/notesSlide24.xml" Id="R7dd8acceef584a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c991e89fa4061" /><Relationship Type="http://schemas.openxmlformats.org/officeDocument/2006/relationships/notesSlide" Target="/ppt/notesSlides/notesSlide25.xml" Id="R35dacaf9af6a42c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a57f0688846d0" /><Relationship Type="http://schemas.openxmlformats.org/officeDocument/2006/relationships/notesSlide" Target="/ppt/notesSlides/notesSlide26.xml" Id="Rb98aa5c1a77e49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6c053e9c84747" /><Relationship Type="http://schemas.openxmlformats.org/officeDocument/2006/relationships/notesSlide" Target="/ppt/notesSlides/notesSlide27.xml" Id="R132a3fbc5ef44f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aca48851e487a" /><Relationship Type="http://schemas.openxmlformats.org/officeDocument/2006/relationships/notesSlide" Target="/ppt/notesSlides/notesSlide28.xml" Id="R1bc8c57e70db40b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b346e1e5f45b3" /><Relationship Type="http://schemas.openxmlformats.org/officeDocument/2006/relationships/notesSlide" Target="/ppt/notesSlides/notesSlide29.xml" Id="R715da2300024486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8ff5c32342a5" /><Relationship Type="http://schemas.openxmlformats.org/officeDocument/2006/relationships/notesSlide" Target="/ppt/notesSlides/notesSlide30.xml" Id="Ra5976665f7074e9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094ee987e4bab" /><Relationship Type="http://schemas.openxmlformats.org/officeDocument/2006/relationships/notesSlide" Target="/ppt/notesSlides/notesSlide31.xml" Id="Rf874e8b6810642b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076daa0e74987" /><Relationship Type="http://schemas.openxmlformats.org/officeDocument/2006/relationships/notesSlide" Target="/ppt/notesSlides/notesSlide32.xml" Id="R6b8af3529d0b47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de06708bc400d" /><Relationship Type="http://schemas.openxmlformats.org/officeDocument/2006/relationships/notesSlide" Target="/ppt/notesSlides/notesSlide33.xml" Id="R6a46a38129fc4cd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d99e7c8014912" /><Relationship Type="http://schemas.openxmlformats.org/officeDocument/2006/relationships/notesSlide" Target="/ppt/notesSlides/notesSlide34.xml" Id="R4767b6c26c9d45c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625d04ae64679" /><Relationship Type="http://schemas.openxmlformats.org/officeDocument/2006/relationships/notesSlide" Target="/ppt/notesSlides/notesSlide35.xml" Id="R04ea9626bc4e46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e788899f24601" /><Relationship Type="http://schemas.openxmlformats.org/officeDocument/2006/relationships/notesSlide" Target="/ppt/notesSlides/notesSlide36.xml" Id="R6722a947d7bf42a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f50a517d84fe8" /><Relationship Type="http://schemas.openxmlformats.org/officeDocument/2006/relationships/notesSlide" Target="/ppt/notesSlides/notesSlide37.xml" Id="Rbd9e7465311a48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bc0df31f422f" /><Relationship Type="http://schemas.openxmlformats.org/officeDocument/2006/relationships/notesSlide" Target="/ppt/notesSlides/notesSlide38.xml" Id="Rfaee2a0f51844cf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2dd1284241e8" /><Relationship Type="http://schemas.openxmlformats.org/officeDocument/2006/relationships/notesSlide" Target="/ppt/notesSlides/notesSlide39.xml" Id="R933a3f26ffc34c1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fe0c363b4f7c" /><Relationship Type="http://schemas.openxmlformats.org/officeDocument/2006/relationships/notesSlide" Target="/ppt/notesSlides/notesSlide40.xml" Id="R8c9fba633e304a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0473b5f384e8b" /><Relationship Type="http://schemas.openxmlformats.org/officeDocument/2006/relationships/notesSlide" Target="/ppt/notesSlides/notesSlide41.xml" Id="Rcea4ea6e10af48d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a3ea218bf489e" /><Relationship Type="http://schemas.openxmlformats.org/officeDocument/2006/relationships/notesSlide" Target="/ppt/notesSlides/notesSlide42.xml" Id="R681687572f814be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13406ee7a4843" /><Relationship Type="http://schemas.openxmlformats.org/officeDocument/2006/relationships/notesSlide" Target="/ppt/notesSlides/notesSlide43.xml" Id="R61d361326bbe4c7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6f9c4168445b9" /><Relationship Type="http://schemas.openxmlformats.org/officeDocument/2006/relationships/notesSlide" Target="/ppt/notesSlides/notesSlide44.xml" Id="Rff7d59174a58455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e12c78357462d" /><Relationship Type="http://schemas.openxmlformats.org/officeDocument/2006/relationships/notesSlide" Target="/ppt/notesSlides/notesSlide45.xml" Id="R5928b91b7a094b3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a6ec667a74753" /><Relationship Type="http://schemas.openxmlformats.org/officeDocument/2006/relationships/notesSlide" Target="/ppt/notesSlides/notesSlide46.xml" Id="Rd6beb869e015454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5541285904acc" /><Relationship Type="http://schemas.openxmlformats.org/officeDocument/2006/relationships/notesSlide" Target="/ppt/notesSlides/notesSlide47.xml" Id="R6a96b1adc916455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8003d74934d4d" /><Relationship Type="http://schemas.openxmlformats.org/officeDocument/2006/relationships/notesSlide" Target="/ppt/notesSlides/notesSlide48.xml" Id="R7c12bb8862264e9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8f76587c46fa" /><Relationship Type="http://schemas.openxmlformats.org/officeDocument/2006/relationships/notesSlide" Target="/ppt/notesSlides/notesSlide49.xml" Id="Rea70362c7075420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91655751d4822" /><Relationship Type="http://schemas.openxmlformats.org/officeDocument/2006/relationships/notesSlide" Target="/ppt/notesSlides/notesSlide50.xml" Id="R34ed3675d9bc438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f5abbe4e148f8" /><Relationship Type="http://schemas.openxmlformats.org/officeDocument/2006/relationships/notesSlide" Target="/ppt/notesSlides/notesSlide51.xml" Id="R4bca13e7644041f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01f63eeb4a19" /><Relationship Type="http://schemas.openxmlformats.org/officeDocument/2006/relationships/notesSlide" Target="/ppt/notesSlides/notesSlide52.xml" Id="R6cc8dd7fd273415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b1f61a61245ed" /><Relationship Type="http://schemas.openxmlformats.org/officeDocument/2006/relationships/notesSlide" Target="/ppt/notesSlides/notesSlide53.xml" Id="R7c01269acfad457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88fcf296145c4" /><Relationship Type="http://schemas.openxmlformats.org/officeDocument/2006/relationships/notesSlide" Target="/ppt/notesSlides/notesSlide54.xml" Id="R2010fa90cbe54df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a12f21ebe4739" /><Relationship Type="http://schemas.openxmlformats.org/officeDocument/2006/relationships/notesSlide" Target="/ppt/notesSlides/notesSlide55.xml" Id="Re23dd2f6782e4e7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64955b33c4400" /><Relationship Type="http://schemas.openxmlformats.org/officeDocument/2006/relationships/notesSlide" Target="/ppt/notesSlides/notesSlide56.xml" Id="R4230fae2fba94e2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173d34b24fad" /><Relationship Type="http://schemas.openxmlformats.org/officeDocument/2006/relationships/notesSlide" Target="/ppt/notesSlides/notesSlide57.xml" Id="R8ba588244ade4aa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e0a88b0b648f3" /><Relationship Type="http://schemas.openxmlformats.org/officeDocument/2006/relationships/notesSlide" Target="/ppt/notesSlides/notesSlide58.xml" Id="Rbe2d45131f26406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60f2e5fee4202" /><Relationship Type="http://schemas.openxmlformats.org/officeDocument/2006/relationships/notesSlide" Target="/ppt/notesSlides/notesSlide59.xml" Id="R52e4d5fbb0c64d6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1c465a71e4835" /><Relationship Type="http://schemas.openxmlformats.org/officeDocument/2006/relationships/notesSlide" Target="/ppt/notesSlides/notesSlide60.xml" Id="Rc54807aa608d48a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648d32da84b82" /><Relationship Type="http://schemas.openxmlformats.org/officeDocument/2006/relationships/notesSlide" Target="/ppt/notesSlides/notesSlide61.xml" Id="R5bc97570656a4c0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cafe8e2cf42ae" /><Relationship Type="http://schemas.openxmlformats.org/officeDocument/2006/relationships/notesSlide" Target="/ppt/notesSlides/notesSlide62.xml" Id="Rec52fcc2b367404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58c1aa6c4693" /><Relationship Type="http://schemas.openxmlformats.org/officeDocument/2006/relationships/notesSlide" Target="/ppt/notesSlides/notesSlide63.xml" Id="R0762c9eb96324b7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36155f8644c1c" /><Relationship Type="http://schemas.openxmlformats.org/officeDocument/2006/relationships/notesSlide" Target="/ppt/notesSlides/notesSlide64.xml" Id="R86d64b9c2ba546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711F8A59-58E9-4A00-A6C0-21B5197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Võimalused, piirid
ja turvaline kasutamine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277D932-176C-4F04-AAD4-9081A84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Laur Raudsoo · 3 kohtumist · 8 akadeemilist tundi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0736AA2-644A-4ED1-970B-72E4F13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SOTSIAALTÖÖS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4F773E5C-37EC-415B-892F-A56513D4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id-1">
            <a:extLst xmlns:a="http://schemas.openxmlformats.org/drawingml/2006/main">
              <a:ext uri="{FF2B5EF4-FFF2-40B4-BE49-F238E27FC236}">
                <a16:creationId xmlns:a16="http://schemas.microsoft.com/office/drawing/2014/main" id="{CD49BFC0-A02A-4F55-9217-04EEB0A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379542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95AE5F1-8E76-433D-9E54-FD4170B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B2A510C-EEEA-492C-BC99-13877878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Kes ma olen ja miks ütlen seda kohe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C383A7D1-4A4D-445A-8C3A-4AF18DE8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taust sotsiaalvaldkonnas ning SotsiaalAI arendamisel.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2225663-77E5-4242-9C38-8AB3CFC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Seotus on praktilise kogemuse allikas, kuid loob ka võimaliku huvide konflikti.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F25A79F-AC6A-4965-BA0F-DE024F08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Koolitus on tööriista-agnostiline. SotsiaalAI-d ei demota ega pakuta varjatult.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1BD1A0A-A952-4B3D-883F-8631A491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85D890DA-0159-4250-95C2-D7B07564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8B8A3654-8831-493A-86AE-D38FCE2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2">
            <a:extLst xmlns:a="http://schemas.openxmlformats.org/drawingml/2006/main">
              <a:ext uri="{FF2B5EF4-FFF2-40B4-BE49-F238E27FC236}">
                <a16:creationId xmlns:a16="http://schemas.microsoft.com/office/drawing/2014/main" id="{FCCD6DB6-8C8A-4F6B-849F-6A19065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2">
            <a:extLst xmlns:a="http://schemas.openxmlformats.org/drawingml/2006/main">
              <a:ext uri="{FF2B5EF4-FFF2-40B4-BE49-F238E27FC236}">
                <a16:creationId xmlns:a16="http://schemas.microsoft.com/office/drawing/2014/main" id="{48D44EA3-5730-4D45-A36D-FA9F820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69726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A50FFA-202C-44C8-9271-777401AF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80A85E7-8662-4320-B632-432248D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Turvaline õpperuum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4CAFB0BA-2B70-45A2-8065-915EC18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 ei sisesta ega jutusta päris kliendijuhtumeid viisil, mille järgi inimene oleks äratuntav.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828160F-7290-43E4-9AFA-22A8410B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Küsimust võib esitada üldistatult või anonüümselt.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18A5157-5A7E-40A7-B1CA-1AC16F6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ei palu kellelgi avalikult tunnistada võimalikku varasemat rikkumist.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C74C341-08BF-4A2D-91CC-C9C6F4C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D4DF983-9BBC-4DED-B3AF-25D2469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26FEBC0B-CD32-46B6-B1C5-E7D3095C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">
            <a:extLst xmlns:a="http://schemas.openxmlformats.org/drawingml/2006/main">
              <a:ext uri="{FF2B5EF4-FFF2-40B4-BE49-F238E27FC236}">
                <a16:creationId xmlns:a16="http://schemas.microsoft.com/office/drawing/2014/main" id="{BCB88E63-D71C-4570-AAAB-50D1303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">
            <a:extLst xmlns:a="http://schemas.openxmlformats.org/drawingml/2006/main">
              <a:ext uri="{FF2B5EF4-FFF2-40B4-BE49-F238E27FC236}">
                <a16:creationId xmlns:a16="http://schemas.microsoft.com/office/drawing/2014/main" id="{1BC20FB6-41D4-410B-AB42-F75390F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</a:t>
            </a:r>
          </a:p>
        </p:txBody>
      </p:sp>
    </p:spTree>
    <p:extLst>
      <p:ext uri="{BB962C8B-B14F-4D97-AF65-F5344CB8AC3E}">
        <p14:creationId xmlns:p14="http://schemas.microsoft.com/office/powerpoint/2010/main" val="1844877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DDD1E6F-A023-445A-A610-584D7081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54E7592-B6A0-42A8-8CE8-1290F5C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Anonüümne avaküsitlus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E20C52D-56B7-489C-9DAB-6EC86EF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Lisaks lahendab rühm neli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lühistsenaariumi, mida korratakse koolituse lõpus.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18B018A8-D6A4-4030-96F3-F6CE9F2A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Tulemusi võrreldakse ainult rühma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tasandil; need ei ole hinnang üksikule osalejale.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C602707-BE3A-49A0-AD38-060E7EE6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8E7DC8F3-3731-4554-B33E-90F0327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D808C3E-9642-426B-94F6-94E5A62D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Olen AI-vestlusrobotit proovinud.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Olen AI-vestlusrobotit proovinud.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33654950-656A-4D04-85B3-05D8A2A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Tean, milline AI-tööriist 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 asutuses heaks kiidetud.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5F661084-2EF1-483D-A176-D4C86EE6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Oskan eristada anonüümset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pseudonüümset juhtumikirjeldust.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38B2DBEC-DFDA-4971-9FBC-037C0FA5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Tean, kuhu AI-ga seotud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vea korral teatada.</a:t>
            </a:r>
          </a:p>
        </p:txBody>
      </p:sp>
      <p:sp>
        <p:nvSpPr>
          <p:cNvPr id="11" name="accent-4">
            <a:extLst xmlns:a="http://schemas.openxmlformats.org/drawingml/2006/main">
              <a:ext uri="{FF2B5EF4-FFF2-40B4-BE49-F238E27FC236}">
                <a16:creationId xmlns:a16="http://schemas.microsoft.com/office/drawing/2014/main" id="{974EF7B6-FD23-4DBE-8C43-AE2908A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4">
            <a:extLst xmlns:a="http://schemas.openxmlformats.org/drawingml/2006/main">
              <a:ext uri="{FF2B5EF4-FFF2-40B4-BE49-F238E27FC236}">
                <a16:creationId xmlns:a16="http://schemas.microsoft.com/office/drawing/2014/main" id="{3DFD6FCE-C98D-4B3D-9E91-313E734B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</a:t>
            </a:r>
          </a:p>
        </p:txBody>
      </p:sp>
    </p:spTree>
    <p:extLst>
      <p:ext uri="{BB962C8B-B14F-4D97-AF65-F5344CB8AC3E}">
        <p14:creationId xmlns:p14="http://schemas.microsoft.com/office/powerpoint/2010/main" val="1935951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A0DCEFE-DEAF-4256-B137-02F0B4B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76E7DB2-7BE6-47BA-8AB4-FE7FAE24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Neli küsimust enne esimest sisestust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D2EA6CF-935C-4CE2-B332-E8EBD23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AI-d on selle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ülesande jaoks vaja?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6048E54-3D1D-428A-AF0A-47D3F31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Millised andmed mul on?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Millised andmed mul on?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D31A51-4132-4FF1-967A-C60C6E1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Millist tööriista ma kasutan?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Millist tööriista ma kasutan?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AB0B82D-8CFC-407E-80AA-8BB3087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Kes kontrollib väljundit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vastutab järgmise sammu eest?</a:t>
            </a:r>
          </a:p>
        </p:txBody>
      </p:sp>
      <p:sp>
        <p:nvSpPr>
          <p:cNvPr id="7" name="accent-5">
            <a:extLst xmlns:a="http://schemas.openxmlformats.org/drawingml/2006/main">
              <a:ext uri="{FF2B5EF4-FFF2-40B4-BE49-F238E27FC236}">
                <a16:creationId xmlns:a16="http://schemas.microsoft.com/office/drawing/2014/main" id="{05A334C6-816F-4D32-AECB-3E54D7FE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5">
            <a:extLst xmlns:a="http://schemas.openxmlformats.org/drawingml/2006/main">
              <a:ext uri="{FF2B5EF4-FFF2-40B4-BE49-F238E27FC236}">
                <a16:creationId xmlns:a16="http://schemas.microsoft.com/office/drawing/2014/main" id="{72B7121D-2A4D-4D81-8B6A-16B78B7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</a:t>
            </a:r>
          </a:p>
        </p:txBody>
      </p:sp>
    </p:spTree>
    <p:extLst>
      <p:ext uri="{BB962C8B-B14F-4D97-AF65-F5344CB8AC3E}">
        <p14:creationId xmlns:p14="http://schemas.microsoft.com/office/powerpoint/2010/main" val="1597675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E2F1BF5-2244-4A32-888F-09C1C17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86C9823-3F36-450F-B864-0CCBBB60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Keelemudel ühe lausega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6FA3C6D-8492-4D32-ACE4-15371319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Keelemudel ennustab konteksti põhjal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sobivat järgmist tekstiosa.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C4877B3-1F9B-41AA-965E-2F99B40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 võib olla ühendatud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otsingu, registri või muu tööriistaga, kuid seda ei tohi eeldada.</a:t>
            </a:r>
          </a:p>
        </p:txBody>
      </p:sp>
      <p:sp>
        <p:nvSpPr>
          <p:cNvPr id="5" name="accent-6">
            <a:extLst xmlns:a="http://schemas.openxmlformats.org/drawingml/2006/main">
              <a:ext uri="{FF2B5EF4-FFF2-40B4-BE49-F238E27FC236}">
                <a16:creationId xmlns:a16="http://schemas.microsoft.com/office/drawing/2014/main" id="{93AF586F-352C-4AB9-B766-278BA156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6">
            <a:extLst xmlns:a="http://schemas.openxmlformats.org/drawingml/2006/main">
              <a:ext uri="{FF2B5EF4-FFF2-40B4-BE49-F238E27FC236}">
                <a16:creationId xmlns:a16="http://schemas.microsoft.com/office/drawing/2014/main" id="{2179C4E9-517E-4CC2-AAD1-1EC9156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S6</a:t>
            </a:r>
          </a:p>
        </p:txBody>
      </p:sp>
    </p:spTree>
    <p:extLst>
      <p:ext uri="{BB962C8B-B14F-4D97-AF65-F5344CB8AC3E}">
        <p14:creationId xmlns:p14="http://schemas.microsoft.com/office/powerpoint/2010/main" val="71625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F087C8-1AC5-40FC-8DB2-8B60F8E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E7F6828-D3D7-4680-A7EC-DE98FEAF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Ladus ei tähenda tõene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18CAADE-78C9-4576-9D85-7EDA152B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Keeleline veenvus ja faktiline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õigsus on kaks eri omadust.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DF36D6D-9817-435D-B800-CB7AAE4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võib anda õige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vastuse valel põhjusel või vale vastuse suure enesekindlusega.</a:t>
            </a:r>
          </a:p>
        </p:txBody>
      </p:sp>
      <p:sp>
        <p:nvSpPr>
          <p:cNvPr id="5" name="accent-7">
            <a:extLst xmlns:a="http://schemas.openxmlformats.org/drawingml/2006/main">
              <a:ext uri="{FF2B5EF4-FFF2-40B4-BE49-F238E27FC236}">
                <a16:creationId xmlns:a16="http://schemas.microsoft.com/office/drawing/2014/main" id="{42BB3BDF-5DE0-414F-9186-8EA372F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7">
            <a:extLst xmlns:a="http://schemas.openxmlformats.org/drawingml/2006/main">
              <a:ext uri="{FF2B5EF4-FFF2-40B4-BE49-F238E27FC236}">
                <a16:creationId xmlns:a16="http://schemas.microsoft.com/office/drawing/2014/main" id="{BA513C6F-0D95-4932-9D7A-7C5A43A4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S7</a:t>
            </a:r>
          </a:p>
        </p:txBody>
      </p:sp>
    </p:spTree>
    <p:extLst>
      <p:ext uri="{BB962C8B-B14F-4D97-AF65-F5344CB8AC3E}">
        <p14:creationId xmlns:p14="http://schemas.microsoft.com/office/powerpoint/2010/main" val="846386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93F3067-C18F-4DE9-B29E-9363783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45212F0-5CBC-47BA-A60B-ECC1C007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Viga ei ole ainult väljamõeldud fakt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268AC27-827A-4626-BB56-183EAE71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Ühe tõlgenduse esitamine ainsa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võimalusena.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0B7F5D4-E3E8-4BFB-B673-B43BA851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FDF8EE1-E71A-4816-9296-5B94065F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7226A6A-2066-4D68-ACE7-8F328A30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3D2D33D-4638-42A4-B85D-2AA77B1D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Väljamõeldud viide.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Väljamõeldud viide.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EA39C357-B9AB-46BC-8BC7-E2AF79C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Olulise asja väljajätmine.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Olulise asja väljajätmine.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69CEE92A-A73F-448A-B2B5-254E47BA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Ebakindla väite muutmine kindlaks.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Ebakindla väite muutmine kindlaks.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A65D8815-A44A-466B-95E6-0EE88A5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Kliendi ja töötaja öeldu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kokkusulatamine.</a:t>
            </a:r>
          </a:p>
        </p:txBody>
      </p:sp>
      <p:sp>
        <p:nvSpPr>
          <p:cNvPr id="11" name="accent-8">
            <a:extLst xmlns:a="http://schemas.openxmlformats.org/drawingml/2006/main">
              <a:ext uri="{FF2B5EF4-FFF2-40B4-BE49-F238E27FC236}">
                <a16:creationId xmlns:a16="http://schemas.microsoft.com/office/drawing/2014/main" id="{7C81E025-0DD1-49A4-939B-77663D8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8">
            <a:extLst xmlns:a="http://schemas.openxmlformats.org/drawingml/2006/main">
              <a:ext uri="{FF2B5EF4-FFF2-40B4-BE49-F238E27FC236}">
                <a16:creationId xmlns:a16="http://schemas.microsoft.com/office/drawing/2014/main" id="{8FB8FB66-AE09-44E0-9104-BAD787DD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S8</a:t>
            </a:r>
          </a:p>
        </p:txBody>
      </p:sp>
    </p:spTree>
    <p:extLst>
      <p:ext uri="{BB962C8B-B14F-4D97-AF65-F5344CB8AC3E}">
        <p14:creationId xmlns:p14="http://schemas.microsoft.com/office/powerpoint/2010/main" val="1158680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5B003DE-3615-4DF6-B26D-3E87C55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C5421B-A676-492C-92B1-A9B906BE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Demo: sama ülesanne, erinev väljund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184498A-4EE0-46C1-A95E-E99C2B2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Kasuta sünteetilist või avalikku sisendit.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02EF963-0F63-43DD-BB2D-6098760F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Näita kahte vastust samale ülesandele.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714275A2-ACFD-4C37-88A6-5FB8D767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Küsimus saalile: kumb on parem ja mille põhjal seda otsustate?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2A5C164-A9E2-4239-A43F-D40D1BD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8C5BD5D-DB86-45E7-AB17-35BDEF6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87550DF-693C-4514-B96E-00C3267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9">
            <a:extLst xmlns:a="http://schemas.openxmlformats.org/drawingml/2006/main">
              <a:ext uri="{FF2B5EF4-FFF2-40B4-BE49-F238E27FC236}">
                <a16:creationId xmlns:a16="http://schemas.microsoft.com/office/drawing/2014/main" id="{4D81E250-9B60-4EF1-9AF7-55F5037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9">
            <a:extLst xmlns:a="http://schemas.openxmlformats.org/drawingml/2006/main">
              <a:ext uri="{FF2B5EF4-FFF2-40B4-BE49-F238E27FC236}">
                <a16:creationId xmlns:a16="http://schemas.microsoft.com/office/drawing/2014/main" id="{B497300C-89A3-4718-9D8A-C46BB15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S9</a:t>
            </a:r>
          </a:p>
        </p:txBody>
      </p:sp>
    </p:spTree>
    <p:extLst>
      <p:ext uri="{BB962C8B-B14F-4D97-AF65-F5344CB8AC3E}">
        <p14:creationId xmlns:p14="http://schemas.microsoft.com/office/powerpoint/2010/main" val="1489043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3841E2F-F53F-4895-8F6F-9061DFE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EB2B29B-642F-49A7-9661-46C48AF8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Demo: seaduseviide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5AD6E18-7B97-4400-B27C-144935B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Palu mudelil nimetada õiguslik alus.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EC1E72D-1934-4FA0-B2C8-0AAF70BC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 viide Riigi Teatajas või näita ette valmistatud ekraanivideot.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E3256D52-150D-4814-A42E-D688145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Õppetund: mudeli viide on kontrollitav väide, mitte allikas.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9422BE4-B7CC-493B-85E9-6B73744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0CE0E48-B744-4D1F-AE00-780A68C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43B881C-4AF9-4AC4-8BA1-2EE77D41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10">
            <a:extLst xmlns:a="http://schemas.openxmlformats.org/drawingml/2006/main">
              <a:ext uri="{FF2B5EF4-FFF2-40B4-BE49-F238E27FC236}">
                <a16:creationId xmlns:a16="http://schemas.microsoft.com/office/drawing/2014/main" id="{9D8424A9-C695-4463-8B30-23977A9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10">
            <a:extLst xmlns:a="http://schemas.openxmlformats.org/drawingml/2006/main">
              <a:ext uri="{FF2B5EF4-FFF2-40B4-BE49-F238E27FC236}">
                <a16:creationId xmlns:a16="http://schemas.microsoft.com/office/drawing/2014/main" id="{DFE7138F-46F8-45D7-ADB0-E383B02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S10</a:t>
            </a:r>
          </a:p>
        </p:txBody>
      </p:sp>
    </p:spTree>
    <p:extLst>
      <p:ext uri="{BB962C8B-B14F-4D97-AF65-F5344CB8AC3E}">
        <p14:creationId xmlns:p14="http://schemas.microsoft.com/office/powerpoint/2010/main" val="18007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E5518DE-68BD-408F-8EE3-46B076D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841422-6879-4664-B6EE-4144FC25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Koolituse põhireegel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E460A2A-B1FC-4BC5-A33E-DE628E27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võib ette valmistada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Inimene peab mõistma, kontrollima ja vastutama.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3328534-0276-4A65-BA68-71FE2292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Täpsustus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 ettevalmistus ei ole automaatselt lubatud. Kõigepealt hinnatakse ülesannet, andmeid ja tööriista.</a:t>
            </a:r>
          </a:p>
        </p:txBody>
      </p:sp>
      <p:sp>
        <p:nvSpPr>
          <p:cNvPr id="5" name="accent-11">
            <a:extLst xmlns:a="http://schemas.openxmlformats.org/drawingml/2006/main">
              <a:ext uri="{FF2B5EF4-FFF2-40B4-BE49-F238E27FC236}">
                <a16:creationId xmlns:a16="http://schemas.microsoft.com/office/drawing/2014/main" id="{7A147E0D-0CFD-449D-8247-F4FB4D04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11">
            <a:extLst xmlns:a="http://schemas.openxmlformats.org/drawingml/2006/main">
              <a:ext uri="{FF2B5EF4-FFF2-40B4-BE49-F238E27FC236}">
                <a16:creationId xmlns:a16="http://schemas.microsoft.com/office/drawing/2014/main" id="{71F8899C-0088-41DB-800B-D897C83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S11</a:t>
            </a:r>
          </a:p>
        </p:txBody>
      </p:sp>
    </p:spTree>
    <p:extLst>
      <p:ext uri="{BB962C8B-B14F-4D97-AF65-F5344CB8AC3E}">
        <p14:creationId xmlns:p14="http://schemas.microsoft.com/office/powerpoint/2010/main" val="12305981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AD3A4BA-0BB8-4324-B3D8-3940AFE9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1A44E00-4483-4032-A204-7058653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Neli eri reeglit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D83B40D-AB99-4587-8F86-601A3A42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Neid ei tohi üheks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„tohib/ei tohi” loendiks kokku suruda.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A7060A29-DE0C-4495-94E4-68E4C5C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B9FF0927-C44D-434D-A20C-A0356DB4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AC79F056-A7F2-455E-B291-CFEE85F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13DA8B1-D556-4590-A3FB-A2174B8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Keelatud AI-praktika.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Keelatud AI-praktika.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627B005C-E62B-4C31-AD34-382E602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riskiga AI-süsteem.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riskiga AI-süsteem.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F63271D4-581F-4054-A829-E9697AA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Muu reguleeritud kasutus, näiteks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isikuandmete töötlemine.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023A5FB-9AD7-4FAC-8C85-8CCA3A0B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Asutuse või ameti enda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rangem reegel.</a:t>
            </a:r>
          </a:p>
        </p:txBody>
      </p:sp>
      <p:sp>
        <p:nvSpPr>
          <p:cNvPr id="11" name="accent-12">
            <a:extLst xmlns:a="http://schemas.openxmlformats.org/drawingml/2006/main">
              <a:ext uri="{FF2B5EF4-FFF2-40B4-BE49-F238E27FC236}">
                <a16:creationId xmlns:a16="http://schemas.microsoft.com/office/drawing/2014/main" id="{ABA1160F-831D-467C-AC4B-92D2662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12">
            <a:extLst xmlns:a="http://schemas.openxmlformats.org/drawingml/2006/main">
              <a:ext uri="{FF2B5EF4-FFF2-40B4-BE49-F238E27FC236}">
                <a16:creationId xmlns:a16="http://schemas.microsoft.com/office/drawing/2014/main" id="{BD0E539D-A7A9-42AC-A044-B653F12D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S12</a:t>
            </a:r>
          </a:p>
        </p:txBody>
      </p:sp>
    </p:spTree>
    <p:extLst>
      <p:ext uri="{BB962C8B-B14F-4D97-AF65-F5344CB8AC3E}">
        <p14:creationId xmlns:p14="http://schemas.microsoft.com/office/powerpoint/2010/main" val="1414403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3AE0790-4C33-434C-A18A-77DBEF0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21E14E8-2772-4444-B4C3-2E0092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risk ei tähenda keelatud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4D26960A-B55D-456D-B60A-E4477B4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riskiga süsteem võib olla lubatud, kui nõuded on täidetud.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49285557-A2D1-42C7-891F-3881AC1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Keelatud praktikad on AI-määruses eraldi kategooria.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5AAABCE-5DDC-47F7-BA3C-EEB1C1D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Koolituse varasem sõnastus „kõrge risk = keelatud otsustamine” oleks vale.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1055DE50-C9EF-4FFB-97D6-5D8A4889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CE0432F-0A43-46D2-AD51-177CBEAF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A1BB226A-3641-4B03-96B9-2867F234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13">
            <a:extLst xmlns:a="http://schemas.openxmlformats.org/drawingml/2006/main">
              <a:ext uri="{FF2B5EF4-FFF2-40B4-BE49-F238E27FC236}">
                <a16:creationId xmlns:a16="http://schemas.microsoft.com/office/drawing/2014/main" id="{DDEC4576-B2B3-4445-BE2B-126804D6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13">
            <a:extLst xmlns:a="http://schemas.openxmlformats.org/drawingml/2006/main">
              <a:ext uri="{FF2B5EF4-FFF2-40B4-BE49-F238E27FC236}">
                <a16:creationId xmlns:a16="http://schemas.microsoft.com/office/drawing/2014/main" id="{2E6F52D1-F7D8-43A2-AA55-AAA38707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S13</a:t>
            </a:r>
          </a:p>
        </p:txBody>
      </p:sp>
    </p:spTree>
    <p:extLst>
      <p:ext uri="{BB962C8B-B14F-4D97-AF65-F5344CB8AC3E}">
        <p14:creationId xmlns:p14="http://schemas.microsoft.com/office/powerpoint/2010/main" val="6536203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BF6635F-1CF8-4FE1-81D5-133A8B13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525538C-38D5-4B0A-80EF-1482863D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Miks sotsiaalvaldkond on AI-määruses nimetatud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15B57FE-3C0D-4301-B9F0-F4E992A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III lisa punkt 5(a)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avaliku võimu süsteemid, millega hinnatakse inimese õigust olulistele avalikele toetustele või teenustele või…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173BB14-8837-4971-AF93-2CCEB7B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Keskne on süsteemi ettenähtud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kasutus ja mõju otsusele, mitte toote turundusnimi.</a:t>
            </a:r>
          </a:p>
        </p:txBody>
      </p:sp>
      <p:sp>
        <p:nvSpPr>
          <p:cNvPr id="5" name="accent-14">
            <a:extLst xmlns:a="http://schemas.openxmlformats.org/drawingml/2006/main">
              <a:ext uri="{FF2B5EF4-FFF2-40B4-BE49-F238E27FC236}">
                <a16:creationId xmlns:a16="http://schemas.microsoft.com/office/drawing/2014/main" id="{EF317561-9F56-4C57-96B7-4C968FC2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14">
            <a:extLst xmlns:a="http://schemas.openxmlformats.org/drawingml/2006/main">
              <a:ext uri="{FF2B5EF4-FFF2-40B4-BE49-F238E27FC236}">
                <a16:creationId xmlns:a16="http://schemas.microsoft.com/office/drawing/2014/main" id="{FCFF9C82-B961-4C4D-91E1-9ECFC3C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S14</a:t>
            </a:r>
          </a:p>
        </p:txBody>
      </p:sp>
    </p:spTree>
    <p:extLst>
      <p:ext uri="{BB962C8B-B14F-4D97-AF65-F5344CB8AC3E}">
        <p14:creationId xmlns:p14="http://schemas.microsoft.com/office/powerpoint/2010/main" val="811157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DEE82E3-7A66-4D9E-ACD6-691CEB3D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8250D99-FCA4-4391-9BA3-87F63762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Ettevalmistav ülesanne võib olla erand, aga mitte automaatselt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B48BBE6A-B795-4C92-9EB7-5CCE4B9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Artikli 6 lõige 3: kitsas menetlusülesanne, varasema inimtöö parandamine või ettevalmistav ülesanne…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C0ABEB3E-27AE-49F9-B35E-BBFF5DB9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Küsimus: kas väljund mõjutab otsuse tulemust sisuliselt?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B966DDA2-7907-49CF-9D0D-CC81499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Inimeste profileerimisel see erand ei kehti.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19743EAA-A8BE-4B35-A434-7A688F9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8A950D3E-E50D-4ECA-A865-3EC39F5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750ECC6-561E-4BCA-B3BD-427EC32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15">
            <a:extLst xmlns:a="http://schemas.openxmlformats.org/drawingml/2006/main">
              <a:ext uri="{FF2B5EF4-FFF2-40B4-BE49-F238E27FC236}">
                <a16:creationId xmlns:a16="http://schemas.microsoft.com/office/drawing/2014/main" id="{07F63927-E000-4EF4-A3A5-7F489AB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15">
            <a:extLst xmlns:a="http://schemas.openxmlformats.org/drawingml/2006/main">
              <a:ext uri="{FF2B5EF4-FFF2-40B4-BE49-F238E27FC236}">
                <a16:creationId xmlns:a16="http://schemas.microsoft.com/office/drawing/2014/main" id="{3ED871D4-B239-425B-8F90-BD4EDE3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S15</a:t>
            </a:r>
          </a:p>
        </p:txBody>
      </p:sp>
    </p:spTree>
    <p:extLst>
      <p:ext uri="{BB962C8B-B14F-4D97-AF65-F5344CB8AC3E}">
        <p14:creationId xmlns:p14="http://schemas.microsoft.com/office/powerpoint/2010/main" val="20881561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9EE3CED-909E-42B4-8DEF-AF0D055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76056B1-1514-47C7-B663-7D51693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Inimene ahelas või kummitempel?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68AC920-B549-45D3-A37A-5077FFF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Pelk „kinnita” nupp ei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taga sisulist inimkontrolli.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79D16C5-F059-4D63-936D-70FDEDA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10C27AD-48AD-4D79-BBE5-F1D7AB7F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C4BBD552-B996-40CB-A145-475C5F75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E7E7E41-2602-4808-ADF6-7B41D81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töötajal on pädevus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 algandmed väljundi kontrollimiseks?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3E94537-21CC-4BBD-A9B5-48DF6C58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tal on aega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kontrollida?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41942E7F-6F7C-430D-812E-E7F90A5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ta saab 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soovituse tagasi lükata ilma negatiivse tagajärjeta?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635EFBD4-0AC7-412D-8179-19078DF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ta suudab otsustada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 ilma süsteemita?</a:t>
            </a:r>
          </a:p>
        </p:txBody>
      </p:sp>
      <p:sp>
        <p:nvSpPr>
          <p:cNvPr id="11" name="accent-16">
            <a:extLst xmlns:a="http://schemas.openxmlformats.org/drawingml/2006/main">
              <a:ext uri="{FF2B5EF4-FFF2-40B4-BE49-F238E27FC236}">
                <a16:creationId xmlns:a16="http://schemas.microsoft.com/office/drawing/2014/main" id="{4F9D0179-A879-419E-A4E9-44B2977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16">
            <a:extLst xmlns:a="http://schemas.openxmlformats.org/drawingml/2006/main">
              <a:ext uri="{FF2B5EF4-FFF2-40B4-BE49-F238E27FC236}">
                <a16:creationId xmlns:a16="http://schemas.microsoft.com/office/drawing/2014/main" id="{5CE8802C-3C99-4542-AA1C-58EAC949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S16</a:t>
            </a:r>
          </a:p>
        </p:txBody>
      </p:sp>
    </p:spTree>
    <p:extLst>
      <p:ext uri="{BB962C8B-B14F-4D97-AF65-F5344CB8AC3E}">
        <p14:creationId xmlns:p14="http://schemas.microsoft.com/office/powerpoint/2010/main" val="21354667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7E778B2-9669-4D40-BF9D-DA16757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502E2CA-0B27-4322-9207-ED2658B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GDPR ei kadunud AI-määruse taha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963D9EA8-46D4-41B1-9DE3-369FD3C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Eesmärk, õiguslik alus, minimaalsus, läbipaistvus, õigsus, säilitamine ja turvalisus.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4D6D6DAD-5E44-402A-B17F-6232965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Eriliigilistele andmetele kehtivad täiendavad tingimused.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E217E7C-3C74-4F8D-BDE5-D3AE513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kasutamine ei muuda nõusolekut automaatselt vajalikuks ega sobivaks.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6B90EFFD-005E-4046-8606-A5702B4D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62F74ECB-23F0-4EAD-B2CB-297970C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B088083-3EB2-4442-B567-5DE6407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17">
            <a:extLst xmlns:a="http://schemas.openxmlformats.org/drawingml/2006/main">
              <a:ext uri="{FF2B5EF4-FFF2-40B4-BE49-F238E27FC236}">
                <a16:creationId xmlns:a16="http://schemas.microsoft.com/office/drawing/2014/main" id="{A6661B33-25CF-41F9-BCF5-E66D2FE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17">
            <a:extLst xmlns:a="http://schemas.openxmlformats.org/drawingml/2006/main">
              <a:ext uri="{FF2B5EF4-FFF2-40B4-BE49-F238E27FC236}">
                <a16:creationId xmlns:a16="http://schemas.microsoft.com/office/drawing/2014/main" id="{F571D334-1B68-4338-AF99-246B7FB5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S17</a:t>
            </a:r>
          </a:p>
        </p:txBody>
      </p:sp>
    </p:spTree>
    <p:extLst>
      <p:ext uri="{BB962C8B-B14F-4D97-AF65-F5344CB8AC3E}">
        <p14:creationId xmlns:p14="http://schemas.microsoft.com/office/powerpoint/2010/main" val="1875759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D8A9240-995D-4EF8-99F5-656C1F82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15DE782-E29D-4C43-AD92-B58B54C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AI-määruse rakendusajoon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567B147-027E-4426-9CBC-BB62F58F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AB93CEA-DFA9-4D3C-A9E8-9402B8D0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0A4092-AD64-437A-9797-53F7EA9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9CFB2A3-F5C3-42CD-A06A-1234FAC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2024–2025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0A3641D-0C00-489E-A48D-F505440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BA37AE4-6546-40EB-8C55-321F036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2027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2F5B98C-3865-4706-B411-0174D74B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Läbipaistvus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Teatud läbipaistvusreeglite kohaldumise algus 2.08.2026.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69C90CE-6EB0-4017-8CE4-21C0888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Määrus jõustus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AI-kirjaoskuse kohustus hakkas kohalduma.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B30F770-7BD6-497A-B950-211006F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risk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III lisa põhikohustuste uus kuupäev 2.12.2027.</a:t>
            </a:r>
          </a:p>
        </p:txBody>
      </p:sp>
      <p:sp>
        <p:nvSpPr>
          <p:cNvPr id="13" name="accent-18">
            <a:extLst xmlns:a="http://schemas.openxmlformats.org/drawingml/2006/main">
              <a:ext uri="{FF2B5EF4-FFF2-40B4-BE49-F238E27FC236}">
                <a16:creationId xmlns:a16="http://schemas.microsoft.com/office/drawing/2014/main" id="{98C9438B-6339-429B-9800-A5C7E982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id-18">
            <a:extLst xmlns:a="http://schemas.openxmlformats.org/drawingml/2006/main">
              <a:ext uri="{FF2B5EF4-FFF2-40B4-BE49-F238E27FC236}">
                <a16:creationId xmlns:a16="http://schemas.microsoft.com/office/drawing/2014/main" id="{9F5C6116-E6D1-4042-AB96-D8EA672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S18</a:t>
            </a:r>
          </a:p>
        </p:txBody>
      </p:sp>
    </p:spTree>
    <p:extLst>
      <p:ext uri="{BB962C8B-B14F-4D97-AF65-F5344CB8AC3E}">
        <p14:creationId xmlns:p14="http://schemas.microsoft.com/office/powerpoint/2010/main" val="11469321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3E38CF5-A62D-47F2-9720-9066615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E19496F-CCDF-4B80-BB91-2972E9E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Miks see koolitus on ikkagi „praegu”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60E6DC8-4D01-4EE4-9C02-3B51944D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kasutamine töös 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juba alanud.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638688E-B57F-4D1E-BC4D-832F637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Asutus peab looma rollile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 riskile vastava AI-kirjaoskuse.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20E9534-3FF7-41B5-B0A7-C1CFD961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AKI rõhutab, et töötaja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peab lähtuma tööandja juhistest ning avalikku tehisarusse ei sisestata kliendiandmeid ega konfidentsiaalset tö…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0E60CDA-1C5E-4E94-B1E0-BCAF554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Tähtaeg ei ole ainus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põhjus; tegelik kasutus on.</a:t>
            </a:r>
          </a:p>
        </p:txBody>
      </p:sp>
      <p:sp>
        <p:nvSpPr>
          <p:cNvPr id="7" name="accent-19">
            <a:extLst xmlns:a="http://schemas.openxmlformats.org/drawingml/2006/main">
              <a:ext uri="{FF2B5EF4-FFF2-40B4-BE49-F238E27FC236}">
                <a16:creationId xmlns:a16="http://schemas.microsoft.com/office/drawing/2014/main" id="{156C85F4-ED8F-48A0-A419-96D5F1E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19">
            <a:extLst xmlns:a="http://schemas.openxmlformats.org/drawingml/2006/main">
              <a:ext uri="{FF2B5EF4-FFF2-40B4-BE49-F238E27FC236}">
                <a16:creationId xmlns:a16="http://schemas.microsoft.com/office/drawing/2014/main" id="{76C199A4-644C-4A99-8056-35744870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S19</a:t>
            </a:r>
          </a:p>
        </p:txBody>
      </p:sp>
    </p:spTree>
    <p:extLst>
      <p:ext uri="{BB962C8B-B14F-4D97-AF65-F5344CB8AC3E}">
        <p14:creationId xmlns:p14="http://schemas.microsoft.com/office/powerpoint/2010/main" val="1015847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370EA1A-C1BD-4B04-8CA4-5C433D08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D961691-3DF1-4680-B784-6D882C1D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Ülesanne – andmed – tööriist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9BC6FC1-4C61-4D6F-A7CA-C7F94F9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Sobiv ülesanne vales tööriistas võib olla ohtlik.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B113414-5065-4A15-AD6B-0B84C8B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 tööriist ei tee ebavajalikku andmetöötlust vajalikuks.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1AE63380-C79D-4110-AAFF-F70AE4D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Anonüümne sisend ei muuda otsustamist automaatselt sobivaks.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49D9F59D-A06E-4165-BDA8-C106880C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EF7143E-8234-411F-A18B-6FB5F39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AAD1C53-BBD7-43DC-9BDE-7858C9D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20">
            <a:extLst xmlns:a="http://schemas.openxmlformats.org/drawingml/2006/main">
              <a:ext uri="{FF2B5EF4-FFF2-40B4-BE49-F238E27FC236}">
                <a16:creationId xmlns:a16="http://schemas.microsoft.com/office/drawing/2014/main" id="{ADEFBBE2-3D21-4D48-A6EC-9E72E09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20">
            <a:extLst xmlns:a="http://schemas.openxmlformats.org/drawingml/2006/main">
              <a:ext uri="{FF2B5EF4-FFF2-40B4-BE49-F238E27FC236}">
                <a16:creationId xmlns:a16="http://schemas.microsoft.com/office/drawing/2014/main" id="{19BA8A83-408F-4729-BCC0-71AC0EC8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S21</a:t>
            </a:r>
          </a:p>
        </p:txBody>
      </p:sp>
    </p:spTree>
    <p:extLst>
      <p:ext uri="{BB962C8B-B14F-4D97-AF65-F5344CB8AC3E}">
        <p14:creationId xmlns:p14="http://schemas.microsoft.com/office/powerpoint/2010/main" val="3356596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8D2B9D5-E340-4808-805A-DA9306F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36AF3C3-52C3-48E4-A38C-613F31E9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Avalik, sünteetiline, anonüümne, pseudonüümne, isikustatud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D580B07-AD8F-48BA-8E93-19754E7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Isikustatud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otseselt või kaudselt tuvastatava inimese andmed.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91234EED-92B6-44DF-8700-6FBAABE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Lisaks isikuandmetele kontrolli konfidentsiaal…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lepingut ja õigust dokumendi sisu välisele teenusele edastada.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8E06A51-5116-4CB2-B08F-BE1E1F2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B13B2507-B899-4304-A2F5-ED56466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DC8BD50-1922-4E77-94E3-CB401704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Avalik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avaldamine ei tähenda, et kõiki kasutusviise võib piiranguta teha.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A1C53DFC-4FE0-4E12-B7AB-327186A2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Sünteetiline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väljamõeldud, kuid realistlik õppematerjal.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A27B2C38-893E-42B1-8059-C7D31A9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Anonüümne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inimest ei saa mõistlikult kasutatavate vahenditega tuvastada.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725E2808-B8A6-425C-8087-1718315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Pseudonüümne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nimi on asendatud, kuid seos inimesega on taastatav.</a:t>
            </a:r>
          </a:p>
        </p:txBody>
      </p:sp>
      <p:sp>
        <p:nvSpPr>
          <p:cNvPr id="11" name="accent-21">
            <a:extLst xmlns:a="http://schemas.openxmlformats.org/drawingml/2006/main">
              <a:ext uri="{FF2B5EF4-FFF2-40B4-BE49-F238E27FC236}">
                <a16:creationId xmlns:a16="http://schemas.microsoft.com/office/drawing/2014/main" id="{80EB6083-FA04-4079-A52A-720164A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21">
            <a:extLst xmlns:a="http://schemas.openxmlformats.org/drawingml/2006/main">
              <a:ext uri="{FF2B5EF4-FFF2-40B4-BE49-F238E27FC236}">
                <a16:creationId xmlns:a16="http://schemas.microsoft.com/office/drawing/2014/main" id="{8B2E420B-D7F0-4AB2-BE74-D3CE3F9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S22</a:t>
            </a:r>
          </a:p>
        </p:txBody>
      </p:sp>
    </p:spTree>
    <p:extLst>
      <p:ext uri="{BB962C8B-B14F-4D97-AF65-F5344CB8AC3E}">
        <p14:creationId xmlns:p14="http://schemas.microsoft.com/office/powerpoint/2010/main" val="2241677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97F3881-45A7-4DA9-BBA7-9A09708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3D19EDE-2E56-4B3F-B6E9-7E9788AA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Nime kustutamine ei pruugi aidata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C06BC07-6AAF-40FE-A586-714A1DA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Näide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vanus + amet + väike küla + haruldane peresündmus.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0DA0293-7030-438B-B777-96E7E958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Küsimus pole ainult selles,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AI-teenuse pakkuja teab nime. Küsimus on, kas inimene on andmetest tuvastatav.</a:t>
            </a:r>
          </a:p>
        </p:txBody>
      </p:sp>
      <p:sp>
        <p:nvSpPr>
          <p:cNvPr id="5" name="accent-22">
            <a:extLst xmlns:a="http://schemas.openxmlformats.org/drawingml/2006/main">
              <a:ext uri="{FF2B5EF4-FFF2-40B4-BE49-F238E27FC236}">
                <a16:creationId xmlns:a16="http://schemas.microsoft.com/office/drawing/2014/main" id="{9DCB74D5-888D-40E2-9C1A-DF4F5F9D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22">
            <a:extLst xmlns:a="http://schemas.openxmlformats.org/drawingml/2006/main">
              <a:ext uri="{FF2B5EF4-FFF2-40B4-BE49-F238E27FC236}">
                <a16:creationId xmlns:a16="http://schemas.microsoft.com/office/drawing/2014/main" id="{6AA02B95-919F-4BA2-921F-55F21CE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S23</a:t>
            </a:r>
          </a:p>
        </p:txBody>
      </p:sp>
    </p:spTree>
    <p:extLst>
      <p:ext uri="{BB962C8B-B14F-4D97-AF65-F5344CB8AC3E}">
        <p14:creationId xmlns:p14="http://schemas.microsoft.com/office/powerpoint/2010/main" val="14367586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92405AA-B745-447D-8940-53872C0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022BB5-CCA9-4B88-8E58-172E185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Minimeerimine enne anonüümimist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43A26125-6DE8-49FE-A61E-A5023DBE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Kõigepealt küsi: kas seda detaili on ülesande jaoks üldse vaja?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FBB6371A-A7DC-4069-A784-DD4A410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Alles seejärel üldista või eemalda vajalikku konteksti kahjustamata.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4C966B40-FBBB-41A6-8ECD-BC05B43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Mõnikord on õige otsus kogu juhtum AI-st välja jätta.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E194AF23-FAB7-4490-AF77-50876BFB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93D3AE2-2BCF-43DA-BE20-D3E0E77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FD726A68-436C-440F-A6FE-FB5D6FB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23">
            <a:extLst xmlns:a="http://schemas.openxmlformats.org/drawingml/2006/main">
              <a:ext uri="{FF2B5EF4-FFF2-40B4-BE49-F238E27FC236}">
                <a16:creationId xmlns:a16="http://schemas.microsoft.com/office/drawing/2014/main" id="{0DDEAF28-1131-411B-8EEA-AEE414CD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23">
            <a:extLst xmlns:a="http://schemas.openxmlformats.org/drawingml/2006/main">
              <a:ext uri="{FF2B5EF4-FFF2-40B4-BE49-F238E27FC236}">
                <a16:creationId xmlns:a16="http://schemas.microsoft.com/office/drawing/2014/main" id="{DE3A9244-C570-4E1C-9C44-452CDFFC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S24</a:t>
            </a:r>
          </a:p>
        </p:txBody>
      </p:sp>
    </p:spTree>
    <p:extLst>
      <p:ext uri="{BB962C8B-B14F-4D97-AF65-F5344CB8AC3E}">
        <p14:creationId xmlns:p14="http://schemas.microsoft.com/office/powerpoint/2010/main" val="5157408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C667F1C-A779-48D5-B437-BB5D6EC6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E9AE023-6713-4157-A21E-A7A4571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Harjutus H2: kas sellest saab turvalise sisendi?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EEB3A52-A264-417F-AF18-D01C992F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Leia äratuntavad detailid.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Leia äratuntavad detailid.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AF54B9D-AECA-4BBE-A1C1-8AD9A70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Erista oluline taust dekoratiivsest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taustast.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6D730B6-442D-476A-8EBF-33E1A6B3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Otsusta, kas tulemus 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anonüümne, pseudonüümne või endiselt äratuntav.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6706648-EC1A-4460-A4B7-2AEFDDF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Viimane küsimus ei ole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„kas nüüd võib?”, vaid „kas asutuse reegel ja tööriist lubavad?”.</a:t>
            </a:r>
          </a:p>
        </p:txBody>
      </p:sp>
      <p:sp>
        <p:nvSpPr>
          <p:cNvPr id="7" name="accent-24">
            <a:extLst xmlns:a="http://schemas.openxmlformats.org/drawingml/2006/main">
              <a:ext uri="{FF2B5EF4-FFF2-40B4-BE49-F238E27FC236}">
                <a16:creationId xmlns:a16="http://schemas.microsoft.com/office/drawing/2014/main" id="{F102C0D7-4E80-4272-939F-8577E45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24">
            <a:extLst xmlns:a="http://schemas.openxmlformats.org/drawingml/2006/main">
              <a:ext uri="{FF2B5EF4-FFF2-40B4-BE49-F238E27FC236}">
                <a16:creationId xmlns:a16="http://schemas.microsoft.com/office/drawing/2014/main" id="{8FDA5ABB-7798-4B61-81CD-D9A809A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S25</a:t>
            </a:r>
          </a:p>
        </p:txBody>
      </p:sp>
    </p:spTree>
    <p:extLst>
      <p:ext uri="{BB962C8B-B14F-4D97-AF65-F5344CB8AC3E}">
        <p14:creationId xmlns:p14="http://schemas.microsoft.com/office/powerpoint/2010/main" val="2086503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3853D4-A7C1-4ABD-9696-004F42F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0833B1E-1C3E-41DB-83A3-9D7A54FC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Tasuta või tasuline ei otsusta sobivust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30521DAD-AF0B-457B-82FA-04A9B34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Tarbijaversiooni ja organisatsiooniversiooni tingimused võivad erineda.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0E2C85E7-560F-4057-9935-83A04CD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 konkreetset kontot, versiooni, lepingut ja seadistust.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69FCA2C-0CDF-494D-B4C1-223B9395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Küsi: kas sisendeid kasutatakse mudeli arendamiseks, kui kaua neid hoitakse,…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5EE9B54-B2BF-4131-8A8A-00DC12F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C88DAE3-74BA-4925-BCCA-EB6E3D2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B528F678-E488-4165-BA7C-EDCCC88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25">
            <a:extLst xmlns:a="http://schemas.openxmlformats.org/drawingml/2006/main">
              <a:ext uri="{FF2B5EF4-FFF2-40B4-BE49-F238E27FC236}">
                <a16:creationId xmlns:a16="http://schemas.microsoft.com/office/drawing/2014/main" id="{B748184B-6D89-4EFF-864D-2B20A6C1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25">
            <a:extLst xmlns:a="http://schemas.openxmlformats.org/drawingml/2006/main">
              <a:ext uri="{FF2B5EF4-FFF2-40B4-BE49-F238E27FC236}">
                <a16:creationId xmlns:a16="http://schemas.microsoft.com/office/drawing/2014/main" id="{7A75B3D7-B9B6-4909-822E-808C5FC4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S26</a:t>
            </a:r>
          </a:p>
        </p:txBody>
      </p:sp>
    </p:spTree>
    <p:extLst>
      <p:ext uri="{BB962C8B-B14F-4D97-AF65-F5344CB8AC3E}">
        <p14:creationId xmlns:p14="http://schemas.microsoft.com/office/powerpoint/2010/main" val="2250386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A1E9609-739F-4A05-B3CB-F581239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E0A390C-E017-4360-A0FE-5526220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EL-is majutatud ei tähenda automaatselt lubatud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012C300-37DF-4F02-9D0B-BBAF9E7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Asukoht ja andmeedastus 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üks osa.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4F01F0D-8DE4-4C90-B280-49E869B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Lisaks on vaja eesmärki,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õiguslikku alust, minimaalsust, ligipääsukontrolli, säilitamisreeglit, turvameetmeid ja intsidentide plaani.</a:t>
            </a:r>
          </a:p>
        </p:txBody>
      </p:sp>
      <p:sp>
        <p:nvSpPr>
          <p:cNvPr id="5" name="accent-26">
            <a:extLst xmlns:a="http://schemas.openxmlformats.org/drawingml/2006/main">
              <a:ext uri="{FF2B5EF4-FFF2-40B4-BE49-F238E27FC236}">
                <a16:creationId xmlns:a16="http://schemas.microsoft.com/office/drawing/2014/main" id="{9EF16B80-0287-4E26-86D7-8A9AA2F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26">
            <a:extLst xmlns:a="http://schemas.openxmlformats.org/drawingml/2006/main">
              <a:ext uri="{FF2B5EF4-FFF2-40B4-BE49-F238E27FC236}">
                <a16:creationId xmlns:a16="http://schemas.microsoft.com/office/drawing/2014/main" id="{5BAF51DF-D0F6-4546-A109-DA1E267F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S27</a:t>
            </a:r>
          </a:p>
        </p:txBody>
      </p:sp>
    </p:spTree>
    <p:extLst>
      <p:ext uri="{BB962C8B-B14F-4D97-AF65-F5344CB8AC3E}">
        <p14:creationId xmlns:p14="http://schemas.microsoft.com/office/powerpoint/2010/main" val="2823639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0206B90-04BE-4EA0-A92F-6FF4126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11AA9E6-6017-4757-8D46-DFBFEF42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Kui sisestasid midagi valesse kohta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F6A56FC-762D-42DA-A7C7-B088D47D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Asutus, mitte üksik töötaja,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hindab rikkumist ja teavitamiskohustust.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9845AF8-F192-4579-A318-E4F77CC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64789A8B-7839-4F12-A229-E81AA1B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2C01642A-D21D-4836-9253-1296DF8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01EB62F-DCBC-44C5-AD27-E7B0524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Peata.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Peata.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22A22CAD-7266-45A2-8E29-602F7F3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lisa uusi andmeid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ega jaga kuvatõmmist laiali.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47CADEC4-F570-4ACA-A705-4C4DD776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Teata kokkulepitud kanalisse.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Teata kokkulepitud kanalisse.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0D0DACAB-EBF5-473D-9142-2764DFF1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Pane kirja minimaalne vajalik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milline süsteem, millal, millist liiki andmed ja milline tegevus.</a:t>
            </a:r>
          </a:p>
        </p:txBody>
      </p:sp>
      <p:sp>
        <p:nvSpPr>
          <p:cNvPr id="11" name="accent-27">
            <a:extLst xmlns:a="http://schemas.openxmlformats.org/drawingml/2006/main">
              <a:ext uri="{FF2B5EF4-FFF2-40B4-BE49-F238E27FC236}">
                <a16:creationId xmlns:a16="http://schemas.microsoft.com/office/drawing/2014/main" id="{F0D76B08-64E4-4535-9790-97361C5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27">
            <a:extLst xmlns:a="http://schemas.openxmlformats.org/drawingml/2006/main">
              <a:ext uri="{FF2B5EF4-FFF2-40B4-BE49-F238E27FC236}">
                <a16:creationId xmlns:a16="http://schemas.microsoft.com/office/drawing/2014/main" id="{238426F3-0760-4105-9095-BA70DE7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S28</a:t>
            </a:r>
          </a:p>
        </p:txBody>
      </p:sp>
    </p:spTree>
    <p:extLst>
      <p:ext uri="{BB962C8B-B14F-4D97-AF65-F5344CB8AC3E}">
        <p14:creationId xmlns:p14="http://schemas.microsoft.com/office/powerpoint/2010/main" val="3963131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50DFBEE-0319-4E17-901C-2584AF04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080D4F6-642F-42F8-A0A4-F22C82E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Intsident ei ole häbiharjutus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31E96B0-6379-4A28-AF2C-68E6BAD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Varjamine suurendab kahju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vähendab reageerimisaega.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FF6A808-3CDA-4A3D-97CA-B4A625B3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 süsteem teeb teatamise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lihtsaks ega karista ausat varajast teadet.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543873B-CF85-41EA-B553-E4EB6110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Juhi küsimus ei ole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ainult „kes eksis?”, vaid „miks sai see töövoog üldse võimalikuks?”.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01800D0-59F5-4B56-85EB-4C4F150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jagab kohtumise lõpus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sisendi eelkontrolli ja intsidendi kiirkaardi, et need oleksid osalejal kasutada juba enne järgmist kohtumist.</a:t>
            </a:r>
          </a:p>
        </p:txBody>
      </p:sp>
      <p:sp>
        <p:nvSpPr>
          <p:cNvPr id="7" name="accent-28">
            <a:extLst xmlns:a="http://schemas.openxmlformats.org/drawingml/2006/main">
              <a:ext uri="{FF2B5EF4-FFF2-40B4-BE49-F238E27FC236}">
                <a16:creationId xmlns:a16="http://schemas.microsoft.com/office/drawing/2014/main" id="{20AE7B23-5F7B-4106-83A5-65BC59B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28">
            <a:extLst xmlns:a="http://schemas.openxmlformats.org/drawingml/2006/main">
              <a:ext uri="{FF2B5EF4-FFF2-40B4-BE49-F238E27FC236}">
                <a16:creationId xmlns:a16="http://schemas.microsoft.com/office/drawing/2014/main" id="{FEAE768B-202E-4FC0-B656-598C72F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S29</a:t>
            </a:r>
          </a:p>
        </p:txBody>
      </p:sp>
    </p:spTree>
    <p:extLst>
      <p:ext uri="{BB962C8B-B14F-4D97-AF65-F5344CB8AC3E}">
        <p14:creationId xmlns:p14="http://schemas.microsoft.com/office/powerpoint/2010/main" val="19049699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D8261836-DFC5-4F42-B903-5ABAD11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praktilised töövõtted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59AB637-42DC-472B-855F-010DD6E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KOHTUMINE 2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5256FC1-C3CE-4696-AE87-BA31A79C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sotsiaaltöös</a:t>
            </a:r>
          </a:p>
        </p:txBody>
      </p:sp>
      <p:sp>
        <p:nvSpPr>
          <p:cNvPr id="4" name="accent-29">
            <a:extLst xmlns:a="http://schemas.openxmlformats.org/drawingml/2006/main">
              <a:ext uri="{FF2B5EF4-FFF2-40B4-BE49-F238E27FC236}">
                <a16:creationId xmlns:a16="http://schemas.microsoft.com/office/drawing/2014/main" id="{4CB66347-081C-485A-B61F-6E65BC1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id-29">
            <a:extLst xmlns:a="http://schemas.openxmlformats.org/drawingml/2006/main">
              <a:ext uri="{FF2B5EF4-FFF2-40B4-BE49-F238E27FC236}">
                <a16:creationId xmlns:a16="http://schemas.microsoft.com/office/drawing/2014/main" id="{7AE9CDE0-5171-431A-9CF6-41F19CED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KOHTUMINE</a:t>
            </a:r>
          </a:p>
        </p:txBody>
      </p:sp>
    </p:spTree>
    <p:extLst>
      <p:ext uri="{BB962C8B-B14F-4D97-AF65-F5344CB8AC3E}">
        <p14:creationId xmlns:p14="http://schemas.microsoft.com/office/powerpoint/2010/main" val="809699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CDD9368-EA1C-4D7E-BBDC-F9259F42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0234045-9CAC-4FD2-938A-3FC2CF00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Kolm töövõtet, mida harjutame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2CA89E4-9F89-4AEF-B76B-A932103A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Dokumendimustand.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Dokumendimustand.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9DA600A-C6AA-4A4F-AE65-B744E2D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Ametliku teksti selgitus.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Ametliku teksti selgitus.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D7C7127-038E-438B-BF71-72C79ED6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Avaliku allika kokkuvõte.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Avaliku allika kokkuvõte.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76B3F78-69C8-47F4-8D00-AF7F03BD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Kõigi kolme puhul 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sisend lubatud, väljund kontrollitav ja vastutaja inimene.</a:t>
            </a:r>
          </a:p>
        </p:txBody>
      </p:sp>
      <p:sp>
        <p:nvSpPr>
          <p:cNvPr id="7" name="accent-30">
            <a:extLst xmlns:a="http://schemas.openxmlformats.org/drawingml/2006/main">
              <a:ext uri="{FF2B5EF4-FFF2-40B4-BE49-F238E27FC236}">
                <a16:creationId xmlns:a16="http://schemas.microsoft.com/office/drawing/2014/main" id="{3B1559EE-2E2D-400A-A704-3A4C344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30">
            <a:extLst xmlns:a="http://schemas.openxmlformats.org/drawingml/2006/main">
              <a:ext uri="{FF2B5EF4-FFF2-40B4-BE49-F238E27FC236}">
                <a16:creationId xmlns:a16="http://schemas.microsoft.com/office/drawing/2014/main" id="{BAD23D12-AED7-4A2C-91DF-6FBE0CEF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S30</a:t>
            </a:r>
          </a:p>
        </p:txBody>
      </p:sp>
    </p:spTree>
    <p:extLst>
      <p:ext uri="{BB962C8B-B14F-4D97-AF65-F5344CB8AC3E}">
        <p14:creationId xmlns:p14="http://schemas.microsoft.com/office/powerpoint/2010/main" val="15802680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1B03A4-BCE4-4169-9A66-2F1422B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6B867EB-9E89-4430-8FC0-D527739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 tööülesande kuus osa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8375820-6B8D-4ED7-BE9E-3D381EDD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Soovitud vorm ja pikkus.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Soovitud vorm ja pikkus.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DFB7443C-09D4-4007-910E-548D039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Kontrollinõue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märgi ebakindlus ja ära lisa uusi fakte.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B69972F-568F-4DC6-9548-6E56D108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4782784A-E4EE-4B52-BCD6-BFCD4F0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CBD9F6B-7AF5-4344-BE07-115EBED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Eesmärk.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Eesmärk.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EA613274-CB5A-402D-9164-4FE5B354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Adressaat.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Adressaat.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B3A323CE-D742-4383-A2CF-FBACC42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Lubatud lähtefaktid.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Lubatud lähtefaktid.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D029565C-00BB-4EE5-8AEA-0A0BD93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Piirid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mida ei tohi lisada või oletada.</a:t>
            </a:r>
          </a:p>
        </p:txBody>
      </p:sp>
      <p:sp>
        <p:nvSpPr>
          <p:cNvPr id="11" name="accent-31">
            <a:extLst xmlns:a="http://schemas.openxmlformats.org/drawingml/2006/main">
              <a:ext uri="{FF2B5EF4-FFF2-40B4-BE49-F238E27FC236}">
                <a16:creationId xmlns:a16="http://schemas.microsoft.com/office/drawing/2014/main" id="{B66DCDA5-F4BA-47FE-A016-F1BC7DD9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31">
            <a:extLst xmlns:a="http://schemas.openxmlformats.org/drawingml/2006/main">
              <a:ext uri="{FF2B5EF4-FFF2-40B4-BE49-F238E27FC236}">
                <a16:creationId xmlns:a16="http://schemas.microsoft.com/office/drawing/2014/main" id="{C11DB5C1-F9B5-4A62-AE8B-F216313D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S31</a:t>
            </a:r>
          </a:p>
        </p:txBody>
      </p:sp>
    </p:spTree>
    <p:extLst>
      <p:ext uri="{BB962C8B-B14F-4D97-AF65-F5344CB8AC3E}">
        <p14:creationId xmlns:p14="http://schemas.microsoft.com/office/powerpoint/2010/main" val="15964532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CEF08FE-3893-4CD4-97D3-C35E647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366AE04-7CD9-4063-8E42-D0FD4B2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Harjutus H3: dokumendimustand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B247C75-E5A9-4E00-9C66-910F6A8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Kasuta ainult sünteetilist faktilehte.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C293D049-A9A2-4117-AA83-ACDCB9A9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Koosta kaks versiooni: ametlik ja lihtsas keeles.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EF46F1E-0321-488B-AAE0-3CDF094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Leia väljundist vähemalt üks parandatav faktirisk, toonirisk või põhjendamatu lubadus.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171A9AB-3449-4B86-85F7-C30C84D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85B94663-F7A6-4522-9624-3BAFAA9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222A04F1-5432-4AFF-AD11-7092060A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2">
            <a:extLst xmlns:a="http://schemas.openxmlformats.org/drawingml/2006/main">
              <a:ext uri="{FF2B5EF4-FFF2-40B4-BE49-F238E27FC236}">
                <a16:creationId xmlns:a16="http://schemas.microsoft.com/office/drawing/2014/main" id="{809F6C59-CDF4-413C-A18C-DEF3A43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2">
            <a:extLst xmlns:a="http://schemas.openxmlformats.org/drawingml/2006/main">
              <a:ext uri="{FF2B5EF4-FFF2-40B4-BE49-F238E27FC236}">
                <a16:creationId xmlns:a16="http://schemas.microsoft.com/office/drawing/2014/main" id="{82AE8AD1-140B-478A-B8B3-53E4402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S32</a:t>
            </a:r>
          </a:p>
        </p:txBody>
      </p:sp>
    </p:spTree>
    <p:extLst>
      <p:ext uri="{BB962C8B-B14F-4D97-AF65-F5344CB8AC3E}">
        <p14:creationId xmlns:p14="http://schemas.microsoft.com/office/powerpoint/2010/main" val="19071416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F6A3BC4-F7DC-4448-BFEA-4AEEB48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C7F1075-7F5F-448A-8634-17C6596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Ilus, aga vale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1FF6A05B-99F8-4EEA-84AF-8778A0D6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Keeleline sujuvus võib vähendada töötaja valvsust.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94DFE471-A8E6-408E-95B6-D899B57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Loe väljundit nagu kolleegi mustandit, mitte nagu tarkvara tulemust.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3FDEA127-2352-472C-BAC9-0AFD209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 eriti numbreid, tähtaegu, põhjuseid ja tegevuslubadusi.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734A664-98EB-4BCA-A54C-886EF59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69C96AE7-A37C-45C7-9E30-AD3C7AD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4AEFF31-2E6B-428D-B74A-D0954D17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3">
            <a:extLst xmlns:a="http://schemas.openxmlformats.org/drawingml/2006/main">
              <a:ext uri="{FF2B5EF4-FFF2-40B4-BE49-F238E27FC236}">
                <a16:creationId xmlns:a16="http://schemas.microsoft.com/office/drawing/2014/main" id="{2093A9DD-04C7-4E15-A841-5F0EF78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3">
            <a:extLst xmlns:a="http://schemas.openxmlformats.org/drawingml/2006/main">
              <a:ext uri="{FF2B5EF4-FFF2-40B4-BE49-F238E27FC236}">
                <a16:creationId xmlns:a16="http://schemas.microsoft.com/office/drawing/2014/main" id="{2A3B1772-2984-4F2F-8619-7E02BEF4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S33</a:t>
            </a:r>
          </a:p>
        </p:txBody>
      </p:sp>
    </p:spTree>
    <p:extLst>
      <p:ext uri="{BB962C8B-B14F-4D97-AF65-F5344CB8AC3E}">
        <p14:creationId xmlns:p14="http://schemas.microsoft.com/office/powerpoint/2010/main" val="10772617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A12EB81-EF5C-4943-BD98-13C9389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07D3CEA-941D-442E-84CB-9865DB49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Selge keel ei ole sisu vähendamine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62B08B5A-EA79-4F74-9F06-966F9DCE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Inimene peab mõistma, mis otsustati, miks, mida ta saab edasi teha ja millal.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39464F6-4F1A-4422-9C5C-74F6B11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võib aidata lauseid ümber teha, kuid õigusliku sisu muutumine on viga.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4BE52FB-3D99-4081-A3AD-06A3861D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Sotsiaalteenuste kvaliteedijuhis seob teenuse kvaliteedi ajakohase ja arusaadava infoga.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08136737-AAF9-42D5-8D27-EC9FA93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6F329F5-84BD-43FB-A081-5999553D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B1DA05F0-7058-435F-B0C0-CC09634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4">
            <a:extLst xmlns:a="http://schemas.openxmlformats.org/drawingml/2006/main">
              <a:ext uri="{FF2B5EF4-FFF2-40B4-BE49-F238E27FC236}">
                <a16:creationId xmlns:a16="http://schemas.microsoft.com/office/drawing/2014/main" id="{DB8D36AF-286D-420E-BE60-0DA1950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4">
            <a:extLst xmlns:a="http://schemas.openxmlformats.org/drawingml/2006/main">
              <a:ext uri="{FF2B5EF4-FFF2-40B4-BE49-F238E27FC236}">
                <a16:creationId xmlns:a16="http://schemas.microsoft.com/office/drawing/2014/main" id="{28A88C7B-2918-4F39-8C95-E6AD335B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S34</a:t>
            </a:r>
          </a:p>
        </p:txBody>
      </p:sp>
    </p:spTree>
    <p:extLst>
      <p:ext uri="{BB962C8B-B14F-4D97-AF65-F5344CB8AC3E}">
        <p14:creationId xmlns:p14="http://schemas.microsoft.com/office/powerpoint/2010/main" val="5221540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53606A7-E91D-4208-AA65-A5A084B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CDF81A1-6E65-4826-A13C-4E5AD8C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Harjutus H4: õppeotsus ja faktileht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E4BFCB9-BA0D-4410-9AF5-FD149F6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Esmalt märgi algtekstis muutumatud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faktid.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BB0D52F-7564-4AAA-8693-F8CD01B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Lase koostada selgitus.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Lase koostada selgitus.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7E0AE7A-B980-49D2-8C17-D2D0BF5A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Tõenda iga väide algteksti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või faktilehe abil.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4567626-8AD0-4FD2-96C9-304FFAA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Tähista, mida selgitus jättis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välja.</a:t>
            </a:r>
          </a:p>
        </p:txBody>
      </p:sp>
      <p:sp>
        <p:nvSpPr>
          <p:cNvPr id="7" name="accent-35">
            <a:extLst xmlns:a="http://schemas.openxmlformats.org/drawingml/2006/main">
              <a:ext uri="{FF2B5EF4-FFF2-40B4-BE49-F238E27FC236}">
                <a16:creationId xmlns:a16="http://schemas.microsoft.com/office/drawing/2014/main" id="{1D458BB9-D2BD-414D-8B29-D0E9820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35">
            <a:extLst xmlns:a="http://schemas.openxmlformats.org/drawingml/2006/main">
              <a:ext uri="{FF2B5EF4-FFF2-40B4-BE49-F238E27FC236}">
                <a16:creationId xmlns:a16="http://schemas.microsoft.com/office/drawing/2014/main" id="{15CBBFAA-8498-460C-90B1-9A75825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S35</a:t>
            </a:r>
          </a:p>
        </p:txBody>
      </p:sp>
    </p:spTree>
    <p:extLst>
      <p:ext uri="{BB962C8B-B14F-4D97-AF65-F5344CB8AC3E}">
        <p14:creationId xmlns:p14="http://schemas.microsoft.com/office/powerpoint/2010/main" val="14523714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DD09D7B-E2EA-4264-909B-60BA579E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A92F2D0-824B-4971-B20B-94409A8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Kokkuvõte ei vabasta allika lugemisest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8207F797-01D9-4A88-88A1-76FEC21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Kokkuvõte aitab orienteeruda, mitte asendab allikat.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6DF58A5-B926-4FFD-8403-FAF2AF1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Väite juures peab olema lehekülg või lõik.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B705F88-DEDA-48AB-82AA-705D315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Kui asukohta ei leia, on väide kontrollimata.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4984704-34AD-4E86-802D-277F6DA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F3BD5147-6EDC-426E-81E6-960BE805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20694E9-D92A-40FA-A769-9CE1EC9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6">
            <a:extLst xmlns:a="http://schemas.openxmlformats.org/drawingml/2006/main">
              <a:ext uri="{FF2B5EF4-FFF2-40B4-BE49-F238E27FC236}">
                <a16:creationId xmlns:a16="http://schemas.microsoft.com/office/drawing/2014/main" id="{DFC8328A-CBB8-410B-8B44-E9F690C5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6">
            <a:extLst xmlns:a="http://schemas.openxmlformats.org/drawingml/2006/main">
              <a:ext uri="{FF2B5EF4-FFF2-40B4-BE49-F238E27FC236}">
                <a16:creationId xmlns:a16="http://schemas.microsoft.com/office/drawing/2014/main" id="{49966F21-2D7B-4F82-A10F-5C22BF6D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S36</a:t>
            </a:r>
          </a:p>
        </p:txBody>
      </p:sp>
    </p:spTree>
    <p:extLst>
      <p:ext uri="{BB962C8B-B14F-4D97-AF65-F5344CB8AC3E}">
        <p14:creationId xmlns:p14="http://schemas.microsoft.com/office/powerpoint/2010/main" val="5468576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9EFDD25-C52E-4CB9-A2D8-B24C01FA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C70C663-BAE0-4FD2-8770-624F8FD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Harjutus H5: viis punkti, viis allikajälge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34E2352-FD5D-4A5A-8CF4-3A92F7E5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Alus: Sotsiaalkindlustusameti avaliku kvaliteedijuhise valitud väljavõte.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3B232B4A-E300-44CE-AA94-627A980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Väljund: viis punkti koos lehekülje või lõiguga.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1DB9ECA-1339-4B1F-9BC6-C0EB4042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Paariline kontrollib ainult allika põhjal.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62A0BFC6-DC89-46AE-9A28-287E47D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18BEBE80-F9FD-4CC2-ABA5-B0EDD9F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F6683DA-A59B-4D12-9C62-5C1BB1A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7">
            <a:extLst xmlns:a="http://schemas.openxmlformats.org/drawingml/2006/main">
              <a:ext uri="{FF2B5EF4-FFF2-40B4-BE49-F238E27FC236}">
                <a16:creationId xmlns:a16="http://schemas.microsoft.com/office/drawing/2014/main" id="{E5909442-C4C8-4105-855C-0B3E92D0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37">
            <a:extLst xmlns:a="http://schemas.openxmlformats.org/drawingml/2006/main">
              <a:ext uri="{FF2B5EF4-FFF2-40B4-BE49-F238E27FC236}">
                <a16:creationId xmlns:a16="http://schemas.microsoft.com/office/drawing/2014/main" id="{3D2184B3-1234-4E8F-8770-915D7665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S37</a:t>
            </a:r>
          </a:p>
        </p:txBody>
      </p:sp>
    </p:spTree>
    <p:extLst>
      <p:ext uri="{BB962C8B-B14F-4D97-AF65-F5344CB8AC3E}">
        <p14:creationId xmlns:p14="http://schemas.microsoft.com/office/powerpoint/2010/main" val="64994217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A87D7D1-AF1D-4B94-83FA-4F6F9A8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1ACB8DD-6C26-4E56-9ED3-961AD530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Päritolu peab jääma nähtavaks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41543444-B728-42E2-B437-2ABE7939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loodud mustand.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loodud mustand.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AEB32915-CE76-4A58-ABC1-15C86CD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kipub need üheks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ladusaks looks siluma; spetsialist peab piirid taastama.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ECC1C4D-3624-4763-AF1C-9DA5A61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5AAD5568-569C-48A6-A082-051B566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A9D77D6-683D-4358-BF51-5BAE464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Kliendi öeldu.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Kliendi öeldu.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2A418FF-3C6F-4712-BF99-F0CA8A0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Töötaja tähelepanek.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Töötaja tähelepanek.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0F61815-FEAB-4483-AFE0-48D5194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Töötaja tõlgendus.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Töötaja tõlgendus.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8022357-2E39-46C0-A820-8AE5E5D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Dokumendi väide.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Dokumendi väide.</a:t>
            </a:r>
          </a:p>
        </p:txBody>
      </p:sp>
      <p:sp>
        <p:nvSpPr>
          <p:cNvPr id="11" name="accent-38">
            <a:extLst xmlns:a="http://schemas.openxmlformats.org/drawingml/2006/main">
              <a:ext uri="{FF2B5EF4-FFF2-40B4-BE49-F238E27FC236}">
                <a16:creationId xmlns:a16="http://schemas.microsoft.com/office/drawing/2014/main" id="{DB9FB86E-7538-4AE7-BA36-C74A480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38">
            <a:extLst xmlns:a="http://schemas.openxmlformats.org/drawingml/2006/main">
              <a:ext uri="{FF2B5EF4-FFF2-40B4-BE49-F238E27FC236}">
                <a16:creationId xmlns:a16="http://schemas.microsoft.com/office/drawing/2014/main" id="{D29AD19E-0D17-442B-AE49-4A24E57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S38</a:t>
            </a:r>
          </a:p>
        </p:txBody>
      </p:sp>
    </p:spTree>
    <p:extLst>
      <p:ext uri="{BB962C8B-B14F-4D97-AF65-F5344CB8AC3E}">
        <p14:creationId xmlns:p14="http://schemas.microsoft.com/office/powerpoint/2010/main" val="17287082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41E382DA-A6E7-472C-B7F6-413F98A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otsustuspiir ja asutuse reegel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E93FBBC-A09E-4F45-8FDF-86D7E1FF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KOHTUMINE 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04FB1B6-EC4C-44A2-B5EB-A3140BB7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sotsiaaltöös</a:t>
            </a:r>
          </a:p>
        </p:txBody>
      </p:sp>
      <p:sp>
        <p:nvSpPr>
          <p:cNvPr id="4" name="accent-39">
            <a:extLst xmlns:a="http://schemas.openxmlformats.org/drawingml/2006/main">
              <a:ext uri="{FF2B5EF4-FFF2-40B4-BE49-F238E27FC236}">
                <a16:creationId xmlns:a16="http://schemas.microsoft.com/office/drawing/2014/main" id="{0F0A0226-6C9E-485F-BE65-94A9DA3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id-39">
            <a:extLst xmlns:a="http://schemas.openxmlformats.org/drawingml/2006/main">
              <a:ext uri="{FF2B5EF4-FFF2-40B4-BE49-F238E27FC236}">
                <a16:creationId xmlns:a16="http://schemas.microsoft.com/office/drawing/2014/main" id="{66F1ADB2-85DC-4E32-9D4E-62EA5FB1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KOHTUMINE</a:t>
            </a:r>
          </a:p>
        </p:txBody>
      </p:sp>
    </p:spTree>
    <p:extLst>
      <p:ext uri="{BB962C8B-B14F-4D97-AF65-F5344CB8AC3E}">
        <p14:creationId xmlns:p14="http://schemas.microsoft.com/office/powerpoint/2010/main" val="1399003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B1F0396-189F-4CFC-9A3F-FA93782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3D20486-78E0-4B74-BBCB-5000F28B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Mõju loeb rohkem kui funktsiooni nimi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8988D4B-4A1B-4097-B08A-1870212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süsteem valib inimese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kohta arvesse minevad asjaolud?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6E35DAF-50F4-4E19-AF3A-48E33CD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ta ennustab riski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või sobivust?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C65863F-B026-4C52-A30C-4B329FA3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ta soovitab tulemust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või seab järjekorra?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B99929-EFAD-4E8F-B398-B75E53D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töötaja näeb 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hinnangut enne enda hinnangu tegemist?</a:t>
            </a:r>
          </a:p>
        </p:txBody>
      </p:sp>
      <p:sp>
        <p:nvSpPr>
          <p:cNvPr id="7" name="accent-40">
            <a:extLst xmlns:a="http://schemas.openxmlformats.org/drawingml/2006/main">
              <a:ext uri="{FF2B5EF4-FFF2-40B4-BE49-F238E27FC236}">
                <a16:creationId xmlns:a16="http://schemas.microsoft.com/office/drawing/2014/main" id="{BB34F122-70BD-4F11-B688-3746C1C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40">
            <a:extLst xmlns:a="http://schemas.openxmlformats.org/drawingml/2006/main">
              <a:ext uri="{FF2B5EF4-FFF2-40B4-BE49-F238E27FC236}">
                <a16:creationId xmlns:a16="http://schemas.microsoft.com/office/drawing/2014/main" id="{5ACE692F-76C8-4C25-AB16-581B623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S40</a:t>
            </a:r>
          </a:p>
        </p:txBody>
      </p:sp>
    </p:spTree>
    <p:extLst>
      <p:ext uri="{BB962C8B-B14F-4D97-AF65-F5344CB8AC3E}">
        <p14:creationId xmlns:p14="http://schemas.microsoft.com/office/powerpoint/2010/main" val="3475913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477CD-3139-4B5E-B8F8-4856008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CE8E74-1051-45F2-9A07-5D4EF158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Meie praktiline punane joon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FA73343-2495-4E89-B591-1DBA81C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Üldine generatiivne AI ei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soovita konkreetse inimese toetuse, teenuse, riski, abivajaduse ega prioriteedi otsust.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EB53C53-C049-44F8-AE98-C71AC21B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on teadlik turvareegel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esita seda väitena, et iga kõrge riskiga süsteem on seadusega keelatud.</a:t>
            </a:r>
          </a:p>
        </p:txBody>
      </p:sp>
      <p:sp>
        <p:nvSpPr>
          <p:cNvPr id="5" name="accent-41">
            <a:extLst xmlns:a="http://schemas.openxmlformats.org/drawingml/2006/main">
              <a:ext uri="{FF2B5EF4-FFF2-40B4-BE49-F238E27FC236}">
                <a16:creationId xmlns:a16="http://schemas.microsoft.com/office/drawing/2014/main" id="{1823ABA8-A6BD-419D-AB9F-82B5AACB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41">
            <a:extLst xmlns:a="http://schemas.openxmlformats.org/drawingml/2006/main">
              <a:ext uri="{FF2B5EF4-FFF2-40B4-BE49-F238E27FC236}">
                <a16:creationId xmlns:a16="http://schemas.microsoft.com/office/drawing/2014/main" id="{8721D6E4-7380-453E-BC02-BD6E5EFC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S41</a:t>
            </a:r>
          </a:p>
        </p:txBody>
      </p:sp>
    </p:spTree>
    <p:extLst>
      <p:ext uri="{BB962C8B-B14F-4D97-AF65-F5344CB8AC3E}">
        <p14:creationId xmlns:p14="http://schemas.microsoft.com/office/powerpoint/2010/main" val="15869147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4C71464-7B48-45F1-959E-57D170E6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BDE1EF5-61DE-4C3B-A0C4-36CBBCC1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Juhtum J2: AI soovitab keeldumist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00DD9415-9E9A-474C-B457-2CEC509D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 hetkel hakkas AI otsust mõjutama?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1AD12F7-FE41-4699-9E27-06A06876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anonüümimine lahendas põhiprobleemi?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F84DCE7-AE1A-4A7C-AEE3-7AC5B8FD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Milline üldine küsimus oleks konkreetse soovituse asemel sobivam?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612BF195-3A50-4FA0-B19A-A4AE68F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48C1B808-86B1-4AD2-9BEF-89E05476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96EB44BA-EFDA-4CEE-B1A6-D49752A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2">
            <a:extLst xmlns:a="http://schemas.openxmlformats.org/drawingml/2006/main">
              <a:ext uri="{FF2B5EF4-FFF2-40B4-BE49-F238E27FC236}">
                <a16:creationId xmlns:a16="http://schemas.microsoft.com/office/drawing/2014/main" id="{FAF30BEC-E695-43BE-96BD-D2DE3A2F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42">
            <a:extLst xmlns:a="http://schemas.openxmlformats.org/drawingml/2006/main">
              <a:ext uri="{FF2B5EF4-FFF2-40B4-BE49-F238E27FC236}">
                <a16:creationId xmlns:a16="http://schemas.microsoft.com/office/drawing/2014/main" id="{CE399385-3754-4A99-99A3-95790CC3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S42</a:t>
            </a:r>
          </a:p>
        </p:txBody>
      </p:sp>
    </p:spTree>
    <p:extLst>
      <p:ext uri="{BB962C8B-B14F-4D97-AF65-F5344CB8AC3E}">
        <p14:creationId xmlns:p14="http://schemas.microsoft.com/office/powerpoint/2010/main" val="9226912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8D8AD8B-BA2A-47BC-B238-41E194E6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2D5E65A-0A47-4D5C-875F-6022DA6B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Juhtum J5: töötajate läbipõlemisrisk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5B1C00A-3986-4063-A424-92394FB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Eesmärk võib olla hea,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kuid andmed ja tagajärg töötaja jaoks võivad olla suure mõjuga.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AE3C2AF-C2FA-41E3-A9BA-0F9B1B7F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Erista vabatahtlik individuaalne enesepeegeldu…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anonüümne koond ja juhtkonna individuaalne riskiprofiil.</a:t>
            </a:r>
          </a:p>
        </p:txBody>
      </p:sp>
      <p:sp>
        <p:nvSpPr>
          <p:cNvPr id="5" name="accent-43">
            <a:extLst xmlns:a="http://schemas.openxmlformats.org/drawingml/2006/main">
              <a:ext uri="{FF2B5EF4-FFF2-40B4-BE49-F238E27FC236}">
                <a16:creationId xmlns:a16="http://schemas.microsoft.com/office/drawing/2014/main" id="{245C5732-733B-4559-81AB-4EAF356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43">
            <a:extLst xmlns:a="http://schemas.openxmlformats.org/drawingml/2006/main">
              <a:ext uri="{FF2B5EF4-FFF2-40B4-BE49-F238E27FC236}">
                <a16:creationId xmlns:a16="http://schemas.microsoft.com/office/drawing/2014/main" id="{27B5B514-6044-4857-A977-0670108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S43</a:t>
            </a:r>
          </a:p>
        </p:txBody>
      </p:sp>
    </p:spTree>
    <p:extLst>
      <p:ext uri="{BB962C8B-B14F-4D97-AF65-F5344CB8AC3E}">
        <p14:creationId xmlns:p14="http://schemas.microsoft.com/office/powerpoint/2010/main" val="9034533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985A86-2DB1-4088-8CB1-B7209583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AA1A9C9-650D-4797-BCB1-C0BD8A52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Juhtum J8: lapse vestluse märkmed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E4AC9D7-521B-4C1A-86B3-FEFBB10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Kõrge tundlikkus ei tähenda automaatselt, et ükski tehnoloogia pole võimalik.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8C89A9D6-235A-4320-BD9C-3917AFFD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tähendab, et üldine tarbijatööriist ja improviseeritud õiguslik alus ei ole vastuvõetavad.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A694ED3-A504-4AA4-B412-C382A062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EL-i majutus üksi ei lahenda eesmärki, ligipääsu, säilitamist ega mõju.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9A59A5D2-98C1-44EA-848D-6DDA606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F75060E8-F626-4274-B541-A0C9898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4F2667D7-074B-40B9-91E6-816738F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4">
            <a:extLst xmlns:a="http://schemas.openxmlformats.org/drawingml/2006/main">
              <a:ext uri="{FF2B5EF4-FFF2-40B4-BE49-F238E27FC236}">
                <a16:creationId xmlns:a16="http://schemas.microsoft.com/office/drawing/2014/main" id="{DD2DF856-16AC-479A-8F3C-8A2F9E4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44">
            <a:extLst xmlns:a="http://schemas.openxmlformats.org/drawingml/2006/main">
              <a:ext uri="{FF2B5EF4-FFF2-40B4-BE49-F238E27FC236}">
                <a16:creationId xmlns:a16="http://schemas.microsoft.com/office/drawing/2014/main" id="{41605142-1E45-4D28-AAA2-594320F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S44</a:t>
            </a:r>
          </a:p>
        </p:txBody>
      </p:sp>
    </p:spTree>
    <p:extLst>
      <p:ext uri="{BB962C8B-B14F-4D97-AF65-F5344CB8AC3E}">
        <p14:creationId xmlns:p14="http://schemas.microsoft.com/office/powerpoint/2010/main" val="162759161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CCEFDF2-4A27-42E3-BC2D-083D37A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754BD56-39A0-4744-871B-39769974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Juhtum J9: avaliku huvi tekst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A8F94A3-96ED-43D1-A075-AAC3E89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AI roll oli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standardne toimetamine või sisuline genereerimine?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BF3E6E7-F4AB-4CBB-AF69-21162D75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inimene tegi sisulise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ülevaatuse ja võttis toimetusvastutuse?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B9B07E1-530E-42F5-9D64-E32FE6E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artikli 50 märgistamisreegel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kohaldub?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EB6525-E78A-4DF8-BC39-101A4CA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Vajaduse korral kontrolli Komisjoni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juhist, mitte ära otsusta märksõna „AI” põhjal.</a:t>
            </a:r>
          </a:p>
        </p:txBody>
      </p:sp>
      <p:sp>
        <p:nvSpPr>
          <p:cNvPr id="7" name="accent-45">
            <a:extLst xmlns:a="http://schemas.openxmlformats.org/drawingml/2006/main">
              <a:ext uri="{FF2B5EF4-FFF2-40B4-BE49-F238E27FC236}">
                <a16:creationId xmlns:a16="http://schemas.microsoft.com/office/drawing/2014/main" id="{F87FE21A-3BC1-471F-B3EA-6A2B4E6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45">
            <a:extLst xmlns:a="http://schemas.openxmlformats.org/drawingml/2006/main">
              <a:ext uri="{FF2B5EF4-FFF2-40B4-BE49-F238E27FC236}">
                <a16:creationId xmlns:a16="http://schemas.microsoft.com/office/drawing/2014/main" id="{1EC75439-B17A-483A-845F-6F58219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S45</a:t>
            </a:r>
          </a:p>
        </p:txBody>
      </p:sp>
    </p:spTree>
    <p:extLst>
      <p:ext uri="{BB962C8B-B14F-4D97-AF65-F5344CB8AC3E}">
        <p14:creationId xmlns:p14="http://schemas.microsoft.com/office/powerpoint/2010/main" val="133550904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7DF7DA3-93CF-4704-816C-0D9F1C7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F002F66-0F3B-4A03-9A29-7726F70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Kui klient tuleb AI-vastusega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92245BF-056B-4D9C-BAC8-66E3A5F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naeruväärista.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naeruväärista.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BC25549-7277-4BD8-8882-9964C2B3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Küsi, millisest allikast väide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pärineb.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3CA5D40-6C15-48CA-8F81-974F01E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Kontrollige koos ametlikust allikast.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Kontrollige koos ametlikust allikast.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8749A05-2BBF-4761-AA27-0677DE14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Selgita, milline asutus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milline menetlus teeb päris otsuse.</a:t>
            </a:r>
          </a:p>
        </p:txBody>
      </p:sp>
      <p:sp>
        <p:nvSpPr>
          <p:cNvPr id="7" name="accent-46">
            <a:extLst xmlns:a="http://schemas.openxmlformats.org/drawingml/2006/main">
              <a:ext uri="{FF2B5EF4-FFF2-40B4-BE49-F238E27FC236}">
                <a16:creationId xmlns:a16="http://schemas.microsoft.com/office/drawing/2014/main" id="{1AEBE060-E286-4478-8EB0-ED5BB9D0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46">
            <a:extLst xmlns:a="http://schemas.openxmlformats.org/drawingml/2006/main">
              <a:ext uri="{FF2B5EF4-FFF2-40B4-BE49-F238E27FC236}">
                <a16:creationId xmlns:a16="http://schemas.microsoft.com/office/drawing/2014/main" id="{B1136124-0378-43E5-944F-B9D2147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S46</a:t>
            </a:r>
          </a:p>
        </p:txBody>
      </p:sp>
    </p:spTree>
    <p:extLst>
      <p:ext uri="{BB962C8B-B14F-4D97-AF65-F5344CB8AC3E}">
        <p14:creationId xmlns:p14="http://schemas.microsoft.com/office/powerpoint/2010/main" val="131458118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A109488-616F-4BF2-9854-94DB308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B1A9BFA3-6827-4DC4-888A-4EACBBE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Läbipaistvus ei ole üks universaalne lause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98C6B10-9A62-47A5-92FD-6B1F95F7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Õiguslik teavitamiskohustus sõltub kasutusest.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Õiguslik teavitamiskohustus sõltub kasutusest.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B477406-4565-4476-B111-6087349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Ametialane ausus eeldab, et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spetsialist suudab AI rolli selgitada.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C1C5F5D-9393-472D-94E2-942D824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Sobiv näide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„Kasutasin teksti sõnastamiseks abivahendit, kontrollisin faktid ja otsuse tegin mina.”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B400E66-4637-4AFC-96DA-E589C360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Seda lauset ei kasutata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automaatse vabandusena, kui AI tegelikult kujundas otsuse.</a:t>
            </a:r>
          </a:p>
        </p:txBody>
      </p:sp>
      <p:sp>
        <p:nvSpPr>
          <p:cNvPr id="7" name="accent-47">
            <a:extLst xmlns:a="http://schemas.openxmlformats.org/drawingml/2006/main">
              <a:ext uri="{FF2B5EF4-FFF2-40B4-BE49-F238E27FC236}">
                <a16:creationId xmlns:a16="http://schemas.microsoft.com/office/drawing/2014/main" id="{D6ACAE67-840E-42D2-BC77-A21F9F4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47">
            <a:extLst xmlns:a="http://schemas.openxmlformats.org/drawingml/2006/main">
              <a:ext uri="{FF2B5EF4-FFF2-40B4-BE49-F238E27FC236}">
                <a16:creationId xmlns:a16="http://schemas.microsoft.com/office/drawing/2014/main" id="{24C72309-D35D-4EA0-AD84-101E566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S47</a:t>
            </a:r>
          </a:p>
        </p:txBody>
      </p:sp>
    </p:spTree>
    <p:extLst>
      <p:ext uri="{BB962C8B-B14F-4D97-AF65-F5344CB8AC3E}">
        <p14:creationId xmlns:p14="http://schemas.microsoft.com/office/powerpoint/2010/main" val="52478649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474079-1BF8-4B33-B3F0-DC23164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60C566-44A8-498B-B609-2062267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Eetika kontrollküsimus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9DED95F9-3A82-4D72-899C-4AA4D115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töövõte annab spetsialistile rohkem aega inimese jaoks või eemaldab inimese otsusest?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FDEF0049-74A9-4E81-9CBC-45EF6D45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inimene saab aru, vaidlustada ja parandada?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6654DCF8-55B8-48FC-9485-D84C8A58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Kes kannab vea tagajärje?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80B3527-EDD7-4E7D-B462-FC276E2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945AF13-6BDD-476C-AAA1-8014941A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9B2B4651-DD5E-4DEC-9A4D-E14C9CC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8">
            <a:extLst xmlns:a="http://schemas.openxmlformats.org/drawingml/2006/main">
              <a:ext uri="{FF2B5EF4-FFF2-40B4-BE49-F238E27FC236}">
                <a16:creationId xmlns:a16="http://schemas.microsoft.com/office/drawing/2014/main" id="{6CD6E765-90F8-40F5-80FC-6493F4EF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48">
            <a:extLst xmlns:a="http://schemas.openxmlformats.org/drawingml/2006/main">
              <a:ext uri="{FF2B5EF4-FFF2-40B4-BE49-F238E27FC236}">
                <a16:creationId xmlns:a16="http://schemas.microsoft.com/office/drawing/2014/main" id="{78E9C8B7-80DB-401D-9F11-C0CB383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S48</a:t>
            </a:r>
          </a:p>
        </p:txBody>
      </p:sp>
    </p:spTree>
    <p:extLst>
      <p:ext uri="{BB962C8B-B14F-4D97-AF65-F5344CB8AC3E}">
        <p14:creationId xmlns:p14="http://schemas.microsoft.com/office/powerpoint/2010/main" val="128102610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F6CE764-3261-47E4-9E21-B2C3CC6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C2FF9F0-A03E-4E41-9491-13EDA50F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Keeld üksi ei loo kontrolli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758639A-B657-4675-86B0-456A1687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Kui vajadus jääb, kuid lubatud rada puudub, läheb kasutus varju.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BF6B2055-A556-4219-9E84-E4970A60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Samas ei ole „kõik kasutavad” põhjendus.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B69415A9-B856-4451-B94D-C11805A7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Asutus peab nimetama lubatud ülesanded, tööriistad, andmed, kontrolli ja kontaktid.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3B04463A-F863-4297-A2D4-258CAA7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09BAEFC-A478-4354-A3A3-14342F5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B8244028-F86C-4984-BFAF-BC21FAE8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9">
            <a:extLst xmlns:a="http://schemas.openxmlformats.org/drawingml/2006/main">
              <a:ext uri="{FF2B5EF4-FFF2-40B4-BE49-F238E27FC236}">
                <a16:creationId xmlns:a16="http://schemas.microsoft.com/office/drawing/2014/main" id="{16BACB5A-7ABA-4A8A-9FDF-2706C192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49">
            <a:extLst xmlns:a="http://schemas.openxmlformats.org/drawingml/2006/main">
              <a:ext uri="{FF2B5EF4-FFF2-40B4-BE49-F238E27FC236}">
                <a16:creationId xmlns:a16="http://schemas.microsoft.com/office/drawing/2014/main" id="{7580C825-CCC0-42B4-8DC6-B6D626A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S49</a:t>
            </a:r>
          </a:p>
        </p:txBody>
      </p:sp>
    </p:spTree>
    <p:extLst>
      <p:ext uri="{BB962C8B-B14F-4D97-AF65-F5344CB8AC3E}">
        <p14:creationId xmlns:p14="http://schemas.microsoft.com/office/powerpoint/2010/main" val="163879357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8EE8645-6F39-4370-8CF7-7777ABAB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116276D-3A2A-4BE2-A6A9-A48A693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Enne toodet sõnasta eesmärk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1CEFEF5-76E9-48F9-B550-E7BCBC59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Millist tööprobleemi lahendame?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Millist tööprobleemi lahendame?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7722282-B0A5-4E39-B42F-CA5B72E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Kellele tekib kasu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kellele risk?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2609D33-0BBF-4E48-B75C-3E8D96C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sama tulemuse saab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väiksema andmetöötlusega?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2576962-6055-4B2F-86F5-D1FDAE96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Millise mõõdiku järgi otsustame,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 kasutus töötab?</a:t>
            </a:r>
          </a:p>
        </p:txBody>
      </p:sp>
      <p:sp>
        <p:nvSpPr>
          <p:cNvPr id="7" name="accent-50">
            <a:extLst xmlns:a="http://schemas.openxmlformats.org/drawingml/2006/main">
              <a:ext uri="{FF2B5EF4-FFF2-40B4-BE49-F238E27FC236}">
                <a16:creationId xmlns:a16="http://schemas.microsoft.com/office/drawing/2014/main" id="{74FDEB68-C6A0-46A1-8492-1B63C5E1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50">
            <a:extLst xmlns:a="http://schemas.openxmlformats.org/drawingml/2006/main">
              <a:ext uri="{FF2B5EF4-FFF2-40B4-BE49-F238E27FC236}">
                <a16:creationId xmlns:a16="http://schemas.microsoft.com/office/drawing/2014/main" id="{3300A24C-2ED6-42A7-AD1D-723FAC7A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S50</a:t>
            </a:r>
          </a:p>
        </p:txBody>
      </p:sp>
    </p:spTree>
    <p:extLst>
      <p:ext uri="{BB962C8B-B14F-4D97-AF65-F5344CB8AC3E}">
        <p14:creationId xmlns:p14="http://schemas.microsoft.com/office/powerpoint/2010/main" val="502400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8739A51-015C-445D-9176-D53E9802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31BC5E9-876C-4076-9567-6EF82ED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Tööriista kontrollkaart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C6CB724-7B01-49DE-9803-CB84375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Mõjuhinnangud, inimjärelevalve ja intsidentide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protsess.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762D1F76-7F50-45B8-B690-25FCFD31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Teenusest väljumise plaan.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Teenusest väljumise plaan.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21DF909-E94E-4BD7-96D0-C4AFB9F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21A2568C-270F-49A3-B62B-A0BA0E7D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66B1E89-3BA1-4DB8-AB33-8BA0C464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Leping ja osapoolte rollid.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Leping ja osapoolte rollid.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2237C960-85D6-404E-920D-32508B6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Andmete asukoht, edastused, treenimine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 säilitamine.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63EAB79E-5FEC-4B78-BBBC-03569423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Ligipääsud, logid, kustutamine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eksport.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19E9100-E375-4A91-BF08-33AF1AB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Kvaliteet, kallutatus, turvalisus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ligipääsetavus.</a:t>
            </a:r>
          </a:p>
        </p:txBody>
      </p:sp>
      <p:sp>
        <p:nvSpPr>
          <p:cNvPr id="11" name="accent-51">
            <a:extLst xmlns:a="http://schemas.openxmlformats.org/drawingml/2006/main">
              <a:ext uri="{FF2B5EF4-FFF2-40B4-BE49-F238E27FC236}">
                <a16:creationId xmlns:a16="http://schemas.microsoft.com/office/drawing/2014/main" id="{EE15FE1F-8E13-4B95-9993-9B0A6B8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51">
            <a:extLst xmlns:a="http://schemas.openxmlformats.org/drawingml/2006/main">
              <a:ext uri="{FF2B5EF4-FFF2-40B4-BE49-F238E27FC236}">
                <a16:creationId xmlns:a16="http://schemas.microsoft.com/office/drawing/2014/main" id="{007ECC13-BA49-459A-97DB-09D846F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S51</a:t>
            </a:r>
          </a:p>
        </p:txBody>
      </p:sp>
    </p:spTree>
    <p:extLst>
      <p:ext uri="{BB962C8B-B14F-4D97-AF65-F5344CB8AC3E}">
        <p14:creationId xmlns:p14="http://schemas.microsoft.com/office/powerpoint/2010/main" val="19160932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3159A5B-B0C6-4604-B64B-E6F7F94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AEF9159-95EF-4CC9-B3F1-54887416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Meeskonnareegli miinimum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7C85580-6910-4DD2-8726-A24971B3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Intsidendi kontakt.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Intsidendi kontakt.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926F0AD-64A2-491A-B74A-54B1A04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Reegli järgmine ülevaatuskuupäev.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Reegli järgmine ülevaatuskuupäev.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5A755E6F-472B-48DA-B15B-B021662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AFC16CC8-3BCE-4E5C-A8D2-3AD45282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852A64D-E554-4264-88EE-57D3B4E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Lubatud ülesanded ja andmeliigid.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Lubatud ülesanded ja andmeliigid.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B0BD0E07-62ED-42E3-9496-83F0FEB3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Keelatud või kooskõlastatavad kasutused.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Keelatud või kooskõlastatavad kasutused.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5B7762CB-7474-480C-8366-9D49327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Heakskiidetud tööriist ja konto.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Heakskiidetud tööriist ja konto.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70AC481B-3638-4E37-B80E-0672878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Kohustuslik kontroll.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Kohustuslik kontroll.</a:t>
            </a:r>
          </a:p>
        </p:txBody>
      </p:sp>
      <p:sp>
        <p:nvSpPr>
          <p:cNvPr id="11" name="accent-52">
            <a:extLst xmlns:a="http://schemas.openxmlformats.org/drawingml/2006/main">
              <a:ext uri="{FF2B5EF4-FFF2-40B4-BE49-F238E27FC236}">
                <a16:creationId xmlns:a16="http://schemas.microsoft.com/office/drawing/2014/main" id="{606E6A29-BD3B-41CF-8856-EC54AF2F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52">
            <a:extLst xmlns:a="http://schemas.openxmlformats.org/drawingml/2006/main">
              <a:ext uri="{FF2B5EF4-FFF2-40B4-BE49-F238E27FC236}">
                <a16:creationId xmlns:a16="http://schemas.microsoft.com/office/drawing/2014/main" id="{89C3A28E-42EC-45E6-93DA-996D905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S52</a:t>
            </a:r>
          </a:p>
        </p:txBody>
      </p:sp>
    </p:spTree>
    <p:extLst>
      <p:ext uri="{BB962C8B-B14F-4D97-AF65-F5344CB8AC3E}">
        <p14:creationId xmlns:p14="http://schemas.microsoft.com/office/powerpoint/2010/main" val="156358357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00F619B-8FA8-4840-8409-F49BD54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B660D0F-492E-4D02-89F1-AD652F3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Rühmatöö: üks reegel ja üks lahendamata küsimus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50771CE9-C98B-4D11-9736-00EE850F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Koostage üks reegel, mida töötaja saab homme järgida.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088C3FF-E483-4516-8909-5B95232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Sõnastage üks küsimus, mida töötaja ise lahendada ei saa.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511E8DE7-21A7-46DF-A2CC-2E50721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Eesmärk on näidata, et AI-kirjaoskus ei nihuta asutuse vastutust üksiktöötajale.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1FE7432-C514-4E8B-858B-3753901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4F699563-3061-4589-84C1-49E116A8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A1B2B5DF-E20F-46F6-9CA0-21032CB1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53">
            <a:extLst xmlns:a="http://schemas.openxmlformats.org/drawingml/2006/main">
              <a:ext uri="{FF2B5EF4-FFF2-40B4-BE49-F238E27FC236}">
                <a16:creationId xmlns:a16="http://schemas.microsoft.com/office/drawing/2014/main" id="{E88A24F5-AABB-48B0-A1B7-5D327E2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53">
            <a:extLst xmlns:a="http://schemas.openxmlformats.org/drawingml/2006/main">
              <a:ext uri="{FF2B5EF4-FFF2-40B4-BE49-F238E27FC236}">
                <a16:creationId xmlns:a16="http://schemas.microsoft.com/office/drawing/2014/main" id="{B5582652-746B-46F7-BC90-7C777C18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S53</a:t>
            </a:r>
          </a:p>
        </p:txBody>
      </p:sp>
    </p:spTree>
    <p:extLst>
      <p:ext uri="{BB962C8B-B14F-4D97-AF65-F5344CB8AC3E}">
        <p14:creationId xmlns:p14="http://schemas.microsoft.com/office/powerpoint/2010/main" val="14476605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F6745F9-FCC5-4E92-8F64-0265B657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E47C882-C335-4CD7-BCA2-27C2288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Järelmaterjalide tervik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79788FC-4DE9-49D1-965E-44F4B79E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Lisaks meeskonnareeglite mall ja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ametlike allikate loend.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D4C3D2E8-B863-429C-B028-61C83B1F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BE81319-7977-4637-A8AA-E2B8AA0F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299A986D-8034-4FC3-A908-5B582A3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10CAA1C-CBBB-4F48-AE14-32F17A23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Sisendi eelkontroll ja intsidendi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kiirkaart anti kätte kohtumisel 1.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D2A0F300-F6C6-4C8F-AF9F-17AE138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Tööriista kasutuselevõtu kontroll.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Tööriista kasutuselevõtu kontroll.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F575D70F-DF53-452D-9A3F-C746B4C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Otsustuspiiri kontroll.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Otsustuspiiri kontroll.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E339F7AD-502E-401B-ADED-33C2C4C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Väljundi kvaliteedikontroll.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Väljundi kvaliteedikontroll.</a:t>
            </a:r>
          </a:p>
        </p:txBody>
      </p:sp>
      <p:sp>
        <p:nvSpPr>
          <p:cNvPr id="11" name="accent-54">
            <a:extLst xmlns:a="http://schemas.openxmlformats.org/drawingml/2006/main">
              <a:ext uri="{FF2B5EF4-FFF2-40B4-BE49-F238E27FC236}">
                <a16:creationId xmlns:a16="http://schemas.microsoft.com/office/drawing/2014/main" id="{4C8AB479-9126-4622-92A7-9900D915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54">
            <a:extLst xmlns:a="http://schemas.openxmlformats.org/drawingml/2006/main">
              <a:ext uri="{FF2B5EF4-FFF2-40B4-BE49-F238E27FC236}">
                <a16:creationId xmlns:a16="http://schemas.microsoft.com/office/drawing/2014/main" id="{76E22603-5252-4F2C-81E5-B69BFC88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S54</a:t>
            </a:r>
          </a:p>
        </p:txBody>
      </p:sp>
    </p:spTree>
    <p:extLst>
      <p:ext uri="{BB962C8B-B14F-4D97-AF65-F5344CB8AC3E}">
        <p14:creationId xmlns:p14="http://schemas.microsoft.com/office/powerpoint/2010/main" val="89582117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4AB575-E0F7-4212-8DE3-E3ABDFDE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1B5B1CF-1262-4A7F-A77E-3B54222D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 homne samm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B65A3421-7699-4E93-A6AD-62000E7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Üks kasutus, millest loobun või mille peatan.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DC20E2D-7335-4419-947C-92F998D6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Üks sünteetilise või avaliku sisuga töövõte, mida proovin.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A2F01A20-B0CD-4D73-904A-5C3F5E5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Üks küsimus, mille viin juhile või andmekaitsespetsialistile.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672891AE-2D2C-425C-AFE9-9C2DD56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C72B40AF-9EC7-4840-82E8-EF55F2A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873069E-8B07-46AE-A344-38928934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55">
            <a:extLst xmlns:a="http://schemas.openxmlformats.org/drawingml/2006/main">
              <a:ext uri="{FF2B5EF4-FFF2-40B4-BE49-F238E27FC236}">
                <a16:creationId xmlns:a16="http://schemas.microsoft.com/office/drawing/2014/main" id="{52ECF942-A552-4151-A7DC-ED1F4612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55">
            <a:extLst xmlns:a="http://schemas.openxmlformats.org/drawingml/2006/main">
              <a:ext uri="{FF2B5EF4-FFF2-40B4-BE49-F238E27FC236}">
                <a16:creationId xmlns:a16="http://schemas.microsoft.com/office/drawing/2014/main" id="{4352DE10-29C4-4DAA-86EC-74B0DD3B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S55</a:t>
            </a:r>
          </a:p>
        </p:txBody>
      </p:sp>
    </p:spTree>
    <p:extLst>
      <p:ext uri="{BB962C8B-B14F-4D97-AF65-F5344CB8AC3E}">
        <p14:creationId xmlns:p14="http://schemas.microsoft.com/office/powerpoint/2010/main" val="97018130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FA9308-4ADF-4BDF-896D-CC8087D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268608A-6A53-478F-B9AB-BDBF531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Lõppkontroll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10B76216-EEDC-4C1C-912C-D569BB49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Samad lühistsenaariumid nagu avaküsitluses.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9D13C90E-B17A-4617-A53F-A369CA3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Osaleja valib: sobiv; sobiv ainult tingimustel; peata ja küsi; ära kasuta.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BFB795DD-0F3B-4E0B-97EC-72DF7685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võrdleb rühma alg- ja lõppvastuseid.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943B3B1D-2308-4DD6-A18F-C86AD5E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7AB5758B-E7CA-4788-A33B-6309C4DE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2F67ADB-43AE-4E83-BE0F-19DB554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56">
            <a:extLst xmlns:a="http://schemas.openxmlformats.org/drawingml/2006/main">
              <a:ext uri="{FF2B5EF4-FFF2-40B4-BE49-F238E27FC236}">
                <a16:creationId xmlns:a16="http://schemas.microsoft.com/office/drawing/2014/main" id="{A86C51D0-6FF5-4A1B-9DF8-489389B5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56">
            <a:extLst xmlns:a="http://schemas.openxmlformats.org/drawingml/2006/main">
              <a:ext uri="{FF2B5EF4-FFF2-40B4-BE49-F238E27FC236}">
                <a16:creationId xmlns:a16="http://schemas.microsoft.com/office/drawing/2014/main" id="{AE407C41-DDB3-49CB-AC9B-546EBDD1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S56</a:t>
            </a:r>
          </a:p>
        </p:txBody>
      </p:sp>
    </p:spTree>
    <p:extLst>
      <p:ext uri="{BB962C8B-B14F-4D97-AF65-F5344CB8AC3E}">
        <p14:creationId xmlns:p14="http://schemas.microsoft.com/office/powerpoint/2010/main" val="52583965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013705F4-D638-4FA7-B050-5A32FFFC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Mõista.
Kontrolli.
Vastuta.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56DCB5F-3C57-4F33-83D5-6D0C372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võib kiirendada sõnastamist.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Vastutus jääb inimesele.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Küsimus ei ole ainult tööriistas.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25C75D7-74A3-40D1-ADF7-4650DF38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ÜKS LAUSE KAASA</a:t>
            </a:r>
          </a:p>
        </p:txBody>
      </p:sp>
      <p:sp>
        <p:nvSpPr>
          <p:cNvPr id="4" name="accent-57">
            <a:extLst xmlns:a="http://schemas.openxmlformats.org/drawingml/2006/main">
              <a:ext uri="{FF2B5EF4-FFF2-40B4-BE49-F238E27FC236}">
                <a16:creationId xmlns:a16="http://schemas.microsoft.com/office/drawing/2014/main" id="{808419C3-44F2-4FE5-92FC-44D97A5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id-57">
            <a:extLst xmlns:a="http://schemas.openxmlformats.org/drawingml/2006/main">
              <a:ext uri="{FF2B5EF4-FFF2-40B4-BE49-F238E27FC236}">
                <a16:creationId xmlns:a16="http://schemas.microsoft.com/office/drawing/2014/main" id="{7FD1B9EA-026A-44BD-B165-F2E5FB74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S57</a:t>
            </a:r>
          </a:p>
        </p:txBody>
      </p:sp>
    </p:spTree>
    <p:extLst>
      <p:ext uri="{BB962C8B-B14F-4D97-AF65-F5344CB8AC3E}">
        <p14:creationId xmlns:p14="http://schemas.microsoft.com/office/powerpoint/2010/main" val="175749673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C932073-67F5-400C-A4F6-80E4EE68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7A266C4-8530-4816-A305-EDCC0DD2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Allikad ja kontakt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7A4DFB8-3496-4208-B396-5CDD01C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kontakt.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Koolitaja kontakt.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50755E5-B0E6-4F61-9101-BD39FF67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44EE6D7A-B5B7-42D2-95DA-6421425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AF048FB9-1D5C-495B-A109-A469FE1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1477137-5876-4D9A-8302-8BAA3FA1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AI-määrus ja Komisjoni juhised.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AI-määrus ja Komisjoni juhised.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13A93772-3336-4A8A-A055-1A12BC8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AKI tehisaru juhised.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AKI tehisaru juhised.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B066ED98-73FF-42B1-975B-104F199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STAR-i strateegia.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STAR-i strateegia.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F8515CD-1CA1-4024-B11A-3197B3D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Sotsiaalteenuste kvaliteedijuhis.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Sotsiaalteenuste kvaliteedijuhis.</a:t>
            </a:r>
          </a:p>
        </p:txBody>
      </p:sp>
      <p:sp>
        <p:nvSpPr>
          <p:cNvPr id="11" name="accent-58">
            <a:extLst xmlns:a="http://schemas.openxmlformats.org/drawingml/2006/main">
              <a:ext uri="{FF2B5EF4-FFF2-40B4-BE49-F238E27FC236}">
                <a16:creationId xmlns:a16="http://schemas.microsoft.com/office/drawing/2014/main" id="{94C39B98-907C-4EBC-9D4D-476CDA8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id-58">
            <a:extLst xmlns:a="http://schemas.openxmlformats.org/drawingml/2006/main">
              <a:ext uri="{FF2B5EF4-FFF2-40B4-BE49-F238E27FC236}">
                <a16:creationId xmlns:a16="http://schemas.microsoft.com/office/drawing/2014/main" id="{4D413EFA-E513-4188-9EE3-0760E2B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S58</a:t>
            </a:r>
          </a:p>
        </p:txBody>
      </p:sp>
    </p:spTree>
    <p:extLst>
      <p:ext uri="{BB962C8B-B14F-4D97-AF65-F5344CB8AC3E}">
        <p14:creationId xmlns:p14="http://schemas.microsoft.com/office/powerpoint/2010/main" val="55962538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B46438D-2B81-4A65-9584-6CB30D1F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FF7B575-BEB0-4306-AE0C-3A9C1842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AI-määruse riskikategooriate näited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D2C8923-D8D8-490A-9BF5-050800AC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Kasuta ainult küsimuse korral.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Kasuta ainult küsimuse korral.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13FE0EA7-E33D-41C5-98EC-D9926D4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kuluta põhikavas aega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kogu määruse õpetamisele.</a:t>
            </a:r>
          </a:p>
        </p:txBody>
      </p:sp>
      <p:sp>
        <p:nvSpPr>
          <p:cNvPr id="5" name="accent-59">
            <a:extLst xmlns:a="http://schemas.openxmlformats.org/drawingml/2006/main">
              <a:ext uri="{FF2B5EF4-FFF2-40B4-BE49-F238E27FC236}">
                <a16:creationId xmlns:a16="http://schemas.microsoft.com/office/drawing/2014/main" id="{266FCA33-095F-4681-85AF-E5CB3C2A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59">
            <a:extLst xmlns:a="http://schemas.openxmlformats.org/drawingml/2006/main">
              <a:ext uri="{FF2B5EF4-FFF2-40B4-BE49-F238E27FC236}">
                <a16:creationId xmlns:a16="http://schemas.microsoft.com/office/drawing/2014/main" id="{86C6CBD4-4DE6-4502-8FB6-192D04C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85039333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10AFA41-31DD-4C44-B249-CC9E8A1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9CA508-694A-43AE-ABA5-E87D8F6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Ettevalmistava ülesande erand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BEA32BF-D5E0-44C8-8B94-115FAFC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Kuva ametliku teksti lühikokkuvõte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 link.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1FDE0B86-6C6B-4720-ABF6-5958F23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anna üksikjuhtumile klassifikatsiooni.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anna üksikjuhtumile klassifikatsiooni.</a:t>
            </a:r>
          </a:p>
        </p:txBody>
      </p:sp>
      <p:sp>
        <p:nvSpPr>
          <p:cNvPr id="5" name="accent-60">
            <a:extLst xmlns:a="http://schemas.openxmlformats.org/drawingml/2006/main">
              <a:ext uri="{FF2B5EF4-FFF2-40B4-BE49-F238E27FC236}">
                <a16:creationId xmlns:a16="http://schemas.microsoft.com/office/drawing/2014/main" id="{7B1FB0F7-E392-466D-BBC1-8B6C844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id-60">
            <a:extLst xmlns:a="http://schemas.openxmlformats.org/drawingml/2006/main">
              <a:ext uri="{FF2B5EF4-FFF2-40B4-BE49-F238E27FC236}">
                <a16:creationId xmlns:a16="http://schemas.microsoft.com/office/drawing/2014/main" id="{E4174B2D-D2BF-4026-AA36-2A000B4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26837688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5AEE277-4277-43FC-BDBF-F76379CC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8B1EAAD-4E4E-48EE-81D2-101B6A9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GDPR artikkel 22 ja sisuline inimsekkumine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8303C559-3EC9-478F-A3D9-A61A585C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Automatiseeritud otsus.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36A4DD3-14CC-4574-8B36-F4A010D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Oluline mõju.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14139EF-F4F7-4B0F-960A-16776A0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Sisuline inimsekkumine.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0329F23F-1070-4E57-841F-3F3ED4B3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F1603257-98C9-4363-A5CF-9E5DADB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B1A88285-882A-4ED3-9F26-B9C2A94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61">
            <a:extLst xmlns:a="http://schemas.openxmlformats.org/drawingml/2006/main">
              <a:ext uri="{FF2B5EF4-FFF2-40B4-BE49-F238E27FC236}">
                <a16:creationId xmlns:a16="http://schemas.microsoft.com/office/drawing/2014/main" id="{F3962789-C582-411A-9E91-4983CAD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61">
            <a:extLst xmlns:a="http://schemas.openxmlformats.org/drawingml/2006/main">
              <a:ext uri="{FF2B5EF4-FFF2-40B4-BE49-F238E27FC236}">
                <a16:creationId xmlns:a16="http://schemas.microsoft.com/office/drawing/2014/main" id="{FE68BD4B-B218-465A-979D-344CA0DD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12085711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91276D9D-23FE-44E9-8939-1DFCC6B5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Kolm lisastsenaariumi saaliga lahendamiseks.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958001B-EC3E-43E1-9776-CF6AC25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VARUSLAID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B3BD57B-EC19-4933-B295-A1B7F22A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4" name="accent-62">
            <a:extLst xmlns:a="http://schemas.openxmlformats.org/drawingml/2006/main">
              <a:ext uri="{FF2B5EF4-FFF2-40B4-BE49-F238E27FC236}">
                <a16:creationId xmlns:a16="http://schemas.microsoft.com/office/drawing/2014/main" id="{A7092185-7F0C-418B-9D8F-AD873339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id-62">
            <a:extLst xmlns:a="http://schemas.openxmlformats.org/drawingml/2006/main">
              <a:ext uri="{FF2B5EF4-FFF2-40B4-BE49-F238E27FC236}">
                <a16:creationId xmlns:a16="http://schemas.microsoft.com/office/drawing/2014/main" id="{B8D8783D-F1F3-472D-968D-00DCCB5F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180681096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E928CCC-6599-4B4C-BF84-FB37400A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254409A-052A-443E-8BDC-2A433642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Mida teha, kui asutuse reeglit ei ole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CBC94DD-A3A2-458A-9E8F-F7BA4F0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kasuta kliendi- ega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konfidentsiaalseid andmeid avalikus tööriistas.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7ECB954-87A6-4156-9E4D-F16DECA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 kirjalik juhis.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Küsi kirjalik juhis.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52DBD00-062A-4CD4-8518-BBA9710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Paku juhile ühe lehe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reegli mustandit.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CD2366E-D445-4A74-A83A-02DC50D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Ära võta üksiktöötajana enda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peale asutuse õiguslikku riskihinnangut.</a:t>
            </a:r>
          </a:p>
        </p:txBody>
      </p:sp>
      <p:sp>
        <p:nvSpPr>
          <p:cNvPr id="7" name="accent-63">
            <a:extLst xmlns:a="http://schemas.openxmlformats.org/drawingml/2006/main">
              <a:ext uri="{FF2B5EF4-FFF2-40B4-BE49-F238E27FC236}">
                <a16:creationId xmlns:a16="http://schemas.microsoft.com/office/drawing/2014/main" id="{611A8817-A11A-403B-851E-34F16A77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id-63">
            <a:extLst xmlns:a="http://schemas.openxmlformats.org/drawingml/2006/main">
              <a:ext uri="{FF2B5EF4-FFF2-40B4-BE49-F238E27FC236}">
                <a16:creationId xmlns:a16="http://schemas.microsoft.com/office/drawing/2014/main" id="{D1020D41-0BA7-4F33-9C86-13E9CC8C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26805308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B8E7237-A3E3-4BC1-AB3D-932FDE50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594BB95-CE24-4974-A695-7688BE74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STAR-i strateegia suund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4E5D51FF-ACA0-40BB-B41E-90226D11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STAR-i strateegia 2026–2030 näeb AI-d väärtust loova võimalusena, kuid ainult „selgelt piiratud,…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8665C47-AD32-4741-8F49-94B9EBD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Koolituse küsimus: milline piir on töötaja jaoks päriselt kasutatav?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E638D5D2-5D5A-467F-9108-E4B127A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Kasuta seda slaidi ainult siis, kui tellija soovib STAR-i strateegia seost eraldi käsitleda.…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CE6D5539-EC18-4A5B-9866-F438A72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8986A58-3002-4E10-B548-EB4E315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27883EB5-9B31-4A0D-8A51-9CCFD2A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64">
            <a:extLst xmlns:a="http://schemas.openxmlformats.org/drawingml/2006/main">
              <a:ext uri="{FF2B5EF4-FFF2-40B4-BE49-F238E27FC236}">
                <a16:creationId xmlns:a16="http://schemas.microsoft.com/office/drawing/2014/main" id="{17625084-0F70-456B-B0F7-086FD85D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id-64">
            <a:extLst xmlns:a="http://schemas.openxmlformats.org/drawingml/2006/main">
              <a:ext uri="{FF2B5EF4-FFF2-40B4-BE49-F238E27FC236}">
                <a16:creationId xmlns:a16="http://schemas.microsoft.com/office/drawing/2014/main" id="{D7A5063A-4DE1-49B4-BB10-5208212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VARUSLAID</a:t>
            </a:r>
          </a:p>
        </p:txBody>
      </p:sp>
    </p:spTree>
    <p:extLst>
      <p:ext uri="{BB962C8B-B14F-4D97-AF65-F5344CB8AC3E}">
        <p14:creationId xmlns:p14="http://schemas.microsoft.com/office/powerpoint/2010/main" val="833095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2026-07-30T15:54:27.1670000Z</dcterms:created>
  <dcterms:modified xsi:type="dcterms:W3CDTF">2026-07-30T15:54:27.1670000Z</dcterms:modified>
</coreProperties>
</file>